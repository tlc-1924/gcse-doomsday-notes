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322" r:id="rId5"/>
    <p:sldId id="543" r:id="rId6"/>
    <p:sldId id="324" r:id="rId7"/>
    <p:sldId id="341" r:id="rId8"/>
    <p:sldId id="545" r:id="rId9"/>
    <p:sldId id="549" r:id="rId10"/>
    <p:sldId id="546" r:id="rId11"/>
    <p:sldId id="552" r:id="rId12"/>
    <p:sldId id="558" r:id="rId13"/>
    <p:sldId id="534" r:id="rId14"/>
    <p:sldId id="561" r:id="rId15"/>
  </p:sldIdLst>
  <p:sldSz cx="9144000" cy="6858000" type="screen4x3"/>
  <p:notesSz cx="6724650" cy="97742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6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9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6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82958-91C2-473B-A807-4E8E9A2D71CF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55902D4-5134-4B00-A01C-980CDB883BCF}">
      <dgm:prSet phldrT="[Text]" custT="1"/>
      <dgm:spPr/>
      <dgm:t>
        <a:bodyPr/>
        <a:lstStyle/>
        <a:p>
          <a:r>
            <a:rPr lang="en-GB" sz="2700" b="1"/>
            <a:t>Metallic</a:t>
          </a:r>
          <a:r>
            <a:rPr lang="en-GB" sz="2700"/>
            <a:t> Bonding</a:t>
          </a:r>
        </a:p>
        <a:p>
          <a:r>
            <a:rPr lang="en-GB" sz="2400">
              <a:solidFill>
                <a:srgbClr val="7030A0"/>
              </a:solidFill>
            </a:rPr>
            <a:t>Metal</a:t>
          </a:r>
        </a:p>
      </dgm:t>
    </dgm:pt>
    <dgm:pt modelId="{CBA7C869-7A0A-4B00-84F4-DC1FCED15811}" type="parTrans" cxnId="{2F0F7A3D-1271-4916-984C-97A6DDED4D19}">
      <dgm:prSet/>
      <dgm:spPr/>
      <dgm:t>
        <a:bodyPr/>
        <a:lstStyle/>
        <a:p>
          <a:endParaRPr lang="en-GB"/>
        </a:p>
      </dgm:t>
    </dgm:pt>
    <dgm:pt modelId="{2DA33273-E44C-400F-A763-EED89E43566D}" type="sibTrans" cxnId="{2F0F7A3D-1271-4916-984C-97A6DDED4D19}">
      <dgm:prSet/>
      <dgm:spPr/>
      <dgm:t>
        <a:bodyPr/>
        <a:lstStyle/>
        <a:p>
          <a:endParaRPr lang="en-GB"/>
        </a:p>
      </dgm:t>
    </dgm:pt>
    <dgm:pt modelId="{D5DCEE27-7AF5-4AD0-B76D-1284513E29FC}">
      <dgm:prSet phldrT="[Text]"/>
      <dgm:spPr/>
      <dgm:t>
        <a:bodyPr/>
        <a:lstStyle/>
        <a:p>
          <a:r>
            <a:rPr lang="en-GB"/>
            <a:t>Electrons are delocalised</a:t>
          </a:r>
        </a:p>
      </dgm:t>
    </dgm:pt>
    <dgm:pt modelId="{A5D94BE9-FD36-4707-BFEF-5C807AE38BE6}" type="parTrans" cxnId="{1BCE34A5-ECA1-4905-89B0-1C57803791D2}">
      <dgm:prSet/>
      <dgm:spPr/>
      <dgm:t>
        <a:bodyPr/>
        <a:lstStyle/>
        <a:p>
          <a:endParaRPr lang="en-GB"/>
        </a:p>
      </dgm:t>
    </dgm:pt>
    <dgm:pt modelId="{23722B2E-62B0-4D43-B69B-BB49C3C5A45E}" type="sibTrans" cxnId="{1BCE34A5-ECA1-4905-89B0-1C57803791D2}">
      <dgm:prSet/>
      <dgm:spPr/>
      <dgm:t>
        <a:bodyPr/>
        <a:lstStyle/>
        <a:p>
          <a:endParaRPr lang="en-GB"/>
        </a:p>
      </dgm:t>
    </dgm:pt>
    <dgm:pt modelId="{34FF5420-E46C-4DF8-BC39-329B62DD29D2}">
      <dgm:prSet phldrT="[Text]" phldr="1"/>
      <dgm:spPr>
        <a:solidFill>
          <a:schemeClr val="bg1"/>
        </a:solidFill>
      </dgm:spPr>
      <dgm:t>
        <a:bodyPr/>
        <a:lstStyle/>
        <a:p>
          <a:endParaRPr lang="en-GB"/>
        </a:p>
      </dgm:t>
    </dgm:pt>
    <dgm:pt modelId="{A511ECA6-0187-4C5B-A8C9-E2FCC262B483}" type="parTrans" cxnId="{36F31C16-A9E3-4428-A3B7-1F371F1F50DD}">
      <dgm:prSet/>
      <dgm:spPr/>
      <dgm:t>
        <a:bodyPr/>
        <a:lstStyle/>
        <a:p>
          <a:endParaRPr lang="en-GB"/>
        </a:p>
      </dgm:t>
    </dgm:pt>
    <dgm:pt modelId="{793E33E3-E78D-42C5-B5F0-4D2B9B685FB4}" type="sibTrans" cxnId="{36F31C16-A9E3-4428-A3B7-1F371F1F50DD}">
      <dgm:prSet/>
      <dgm:spPr/>
      <dgm:t>
        <a:bodyPr/>
        <a:lstStyle/>
        <a:p>
          <a:endParaRPr lang="en-GB"/>
        </a:p>
      </dgm:t>
    </dgm:pt>
    <dgm:pt modelId="{95D1F13B-6AAD-4CA4-AA76-9F79D39576DF}">
      <dgm:prSet phldrT="[Text]" custT="1"/>
      <dgm:spPr/>
      <dgm:t>
        <a:bodyPr/>
        <a:lstStyle/>
        <a:p>
          <a:r>
            <a:rPr lang="en-GB" sz="2700" b="1"/>
            <a:t>Ionic </a:t>
          </a:r>
          <a:r>
            <a:rPr lang="en-GB" sz="2700"/>
            <a:t>Bonding</a:t>
          </a:r>
        </a:p>
        <a:p>
          <a:r>
            <a:rPr lang="en-GB" sz="2400">
              <a:solidFill>
                <a:srgbClr val="7030A0"/>
              </a:solidFill>
            </a:rPr>
            <a:t>Metal + non-metal</a:t>
          </a:r>
        </a:p>
      </dgm:t>
    </dgm:pt>
    <dgm:pt modelId="{17177E41-FC9D-4C43-A7D5-5A615FCB83D0}" type="parTrans" cxnId="{A5918431-4851-4A56-A29C-1B464FE5B323}">
      <dgm:prSet/>
      <dgm:spPr/>
      <dgm:t>
        <a:bodyPr/>
        <a:lstStyle/>
        <a:p>
          <a:endParaRPr lang="en-GB"/>
        </a:p>
      </dgm:t>
    </dgm:pt>
    <dgm:pt modelId="{9ECA3EBC-4553-4171-9B50-22D31E2DD3AA}" type="sibTrans" cxnId="{A5918431-4851-4A56-A29C-1B464FE5B323}">
      <dgm:prSet/>
      <dgm:spPr/>
      <dgm:t>
        <a:bodyPr/>
        <a:lstStyle/>
        <a:p>
          <a:endParaRPr lang="en-GB"/>
        </a:p>
      </dgm:t>
    </dgm:pt>
    <dgm:pt modelId="{22A03866-5A22-4710-A32E-5FED514F2EEE}">
      <dgm:prSet phldrT="[Text]"/>
      <dgm:spPr/>
      <dgm:t>
        <a:bodyPr/>
        <a:lstStyle/>
        <a:p>
          <a:r>
            <a:rPr lang="en-GB"/>
            <a:t>Electrons are transferred</a:t>
          </a:r>
        </a:p>
      </dgm:t>
    </dgm:pt>
    <dgm:pt modelId="{4E401FD2-C91F-41FF-B85C-C6D35A082C51}" type="parTrans" cxnId="{68870144-4CDE-4D42-ADDF-ACDC1C23A5BB}">
      <dgm:prSet/>
      <dgm:spPr/>
      <dgm:t>
        <a:bodyPr/>
        <a:lstStyle/>
        <a:p>
          <a:endParaRPr lang="en-GB"/>
        </a:p>
      </dgm:t>
    </dgm:pt>
    <dgm:pt modelId="{0EDDA0A1-07D9-4AAC-A274-DF222C730A5A}" type="sibTrans" cxnId="{68870144-4CDE-4D42-ADDF-ACDC1C23A5BB}">
      <dgm:prSet/>
      <dgm:spPr/>
      <dgm:t>
        <a:bodyPr/>
        <a:lstStyle/>
        <a:p>
          <a:endParaRPr lang="en-GB"/>
        </a:p>
      </dgm:t>
    </dgm:pt>
    <dgm:pt modelId="{57083622-6E68-4E13-A320-2A7B071CF4F3}">
      <dgm:prSet phldrT="[Text]" phldr="1"/>
      <dgm:spPr>
        <a:solidFill>
          <a:schemeClr val="bg1"/>
        </a:solidFill>
      </dgm:spPr>
      <dgm:t>
        <a:bodyPr/>
        <a:lstStyle/>
        <a:p>
          <a:endParaRPr lang="en-GB"/>
        </a:p>
      </dgm:t>
    </dgm:pt>
    <dgm:pt modelId="{AEEACDE9-D89A-4470-B095-885AA69FE359}" type="parTrans" cxnId="{262A1401-E7FF-47ED-80A4-48EE285D7E03}">
      <dgm:prSet/>
      <dgm:spPr/>
      <dgm:t>
        <a:bodyPr/>
        <a:lstStyle/>
        <a:p>
          <a:endParaRPr lang="en-GB"/>
        </a:p>
      </dgm:t>
    </dgm:pt>
    <dgm:pt modelId="{B5D337C1-915F-49CA-B45C-B7928CCB89B0}" type="sibTrans" cxnId="{262A1401-E7FF-47ED-80A4-48EE285D7E03}">
      <dgm:prSet/>
      <dgm:spPr/>
      <dgm:t>
        <a:bodyPr/>
        <a:lstStyle/>
        <a:p>
          <a:endParaRPr lang="en-GB"/>
        </a:p>
      </dgm:t>
    </dgm:pt>
    <dgm:pt modelId="{EC718F66-7151-454F-A145-74F6762BDA77}">
      <dgm:prSet phldrT="[Text]" custT="1"/>
      <dgm:spPr/>
      <dgm:t>
        <a:bodyPr/>
        <a:lstStyle/>
        <a:p>
          <a:r>
            <a:rPr lang="en-GB" sz="2700" b="1"/>
            <a:t>Covalent</a:t>
          </a:r>
          <a:r>
            <a:rPr lang="en-GB" sz="2700"/>
            <a:t> Bonding</a:t>
          </a:r>
        </a:p>
        <a:p>
          <a:r>
            <a:rPr lang="en-GB" sz="2400">
              <a:solidFill>
                <a:srgbClr val="7030A0"/>
              </a:solidFill>
            </a:rPr>
            <a:t>Non-metals</a:t>
          </a:r>
        </a:p>
      </dgm:t>
    </dgm:pt>
    <dgm:pt modelId="{60E8278F-E4CE-4931-A56A-FE05A5FD0716}" type="parTrans" cxnId="{F0027583-2093-4550-8B73-8D9112D442E3}">
      <dgm:prSet/>
      <dgm:spPr/>
      <dgm:t>
        <a:bodyPr/>
        <a:lstStyle/>
        <a:p>
          <a:endParaRPr lang="en-GB"/>
        </a:p>
      </dgm:t>
    </dgm:pt>
    <dgm:pt modelId="{7D702F54-6712-41F4-A6B0-E8BB9E0BC257}" type="sibTrans" cxnId="{F0027583-2093-4550-8B73-8D9112D442E3}">
      <dgm:prSet/>
      <dgm:spPr/>
      <dgm:t>
        <a:bodyPr/>
        <a:lstStyle/>
        <a:p>
          <a:endParaRPr lang="en-GB"/>
        </a:p>
      </dgm:t>
    </dgm:pt>
    <dgm:pt modelId="{D3E0AE43-D652-4EF5-903D-753B3356CAC4}">
      <dgm:prSet phldrT="[Text]"/>
      <dgm:spPr/>
      <dgm:t>
        <a:bodyPr/>
        <a:lstStyle/>
        <a:p>
          <a:r>
            <a:rPr lang="en-GB"/>
            <a:t>Electrons are shared</a:t>
          </a:r>
        </a:p>
      </dgm:t>
    </dgm:pt>
    <dgm:pt modelId="{29CA61AB-ECD0-4B92-A62F-1327A14DFE0A}" type="parTrans" cxnId="{8DFC54D5-B9BF-43FC-81AA-42FE3BE695D2}">
      <dgm:prSet/>
      <dgm:spPr/>
      <dgm:t>
        <a:bodyPr/>
        <a:lstStyle/>
        <a:p>
          <a:endParaRPr lang="en-GB"/>
        </a:p>
      </dgm:t>
    </dgm:pt>
    <dgm:pt modelId="{1B4F1A47-0B5D-4BEF-A8E2-3605C07FC2D8}" type="sibTrans" cxnId="{8DFC54D5-B9BF-43FC-81AA-42FE3BE695D2}">
      <dgm:prSet/>
      <dgm:spPr/>
      <dgm:t>
        <a:bodyPr/>
        <a:lstStyle/>
        <a:p>
          <a:endParaRPr lang="en-GB"/>
        </a:p>
      </dgm:t>
    </dgm:pt>
    <dgm:pt modelId="{6D25A5DA-AC00-41FD-AB3E-B4A69C1EB35D}">
      <dgm:prSet phldrT="[Text]" phldr="1"/>
      <dgm:spPr>
        <a:solidFill>
          <a:schemeClr val="bg1"/>
        </a:solidFill>
      </dgm:spPr>
      <dgm:t>
        <a:bodyPr/>
        <a:lstStyle/>
        <a:p>
          <a:endParaRPr lang="en-GB"/>
        </a:p>
      </dgm:t>
    </dgm:pt>
    <dgm:pt modelId="{4E9F2B3D-D62F-4738-A76E-1F6EF17D15BB}" type="parTrans" cxnId="{4C04EC8C-4996-4D0F-8ED8-8DDCD53D64E9}">
      <dgm:prSet/>
      <dgm:spPr/>
      <dgm:t>
        <a:bodyPr/>
        <a:lstStyle/>
        <a:p>
          <a:endParaRPr lang="en-GB"/>
        </a:p>
      </dgm:t>
    </dgm:pt>
    <dgm:pt modelId="{C4069B3A-A93E-46C7-BA41-84723B5E4CBD}" type="sibTrans" cxnId="{4C04EC8C-4996-4D0F-8ED8-8DDCD53D64E9}">
      <dgm:prSet/>
      <dgm:spPr/>
      <dgm:t>
        <a:bodyPr/>
        <a:lstStyle/>
        <a:p>
          <a:endParaRPr lang="en-GB"/>
        </a:p>
      </dgm:t>
    </dgm:pt>
    <dgm:pt modelId="{632B9253-F962-4E8E-8B24-BC4487BEBB32}" type="pres">
      <dgm:prSet presAssocID="{67D82958-91C2-473B-A807-4E8E9A2D71CF}" presName="theList" presStyleCnt="0">
        <dgm:presLayoutVars>
          <dgm:dir/>
          <dgm:animLvl val="lvl"/>
          <dgm:resizeHandles val="exact"/>
        </dgm:presLayoutVars>
      </dgm:prSet>
      <dgm:spPr/>
    </dgm:pt>
    <dgm:pt modelId="{B976DBC7-8B5D-410A-83A6-534600E144D6}" type="pres">
      <dgm:prSet presAssocID="{755902D4-5134-4B00-A01C-980CDB883BCF}" presName="compNode" presStyleCnt="0"/>
      <dgm:spPr/>
    </dgm:pt>
    <dgm:pt modelId="{878BB07A-5F73-403C-96DB-0BCD93CA208B}" type="pres">
      <dgm:prSet presAssocID="{755902D4-5134-4B00-A01C-980CDB883BCF}" presName="aNode" presStyleLbl="bgShp" presStyleIdx="0" presStyleCnt="3" custLinFactNeighborX="-96652" custLinFactNeighborY="-15051"/>
      <dgm:spPr/>
    </dgm:pt>
    <dgm:pt modelId="{69756191-59B7-4568-B50C-4C152CBA259F}" type="pres">
      <dgm:prSet presAssocID="{755902D4-5134-4B00-A01C-980CDB883BCF}" presName="textNode" presStyleLbl="bgShp" presStyleIdx="0" presStyleCnt="3"/>
      <dgm:spPr/>
    </dgm:pt>
    <dgm:pt modelId="{6317B68C-7EC2-4D00-AE31-B322A10CE626}" type="pres">
      <dgm:prSet presAssocID="{755902D4-5134-4B00-A01C-980CDB883BCF}" presName="compChildNode" presStyleCnt="0"/>
      <dgm:spPr/>
    </dgm:pt>
    <dgm:pt modelId="{E92FF910-040C-4C1F-98D0-812C3A98BF1A}" type="pres">
      <dgm:prSet presAssocID="{755902D4-5134-4B00-A01C-980CDB883BCF}" presName="theInnerList" presStyleCnt="0"/>
      <dgm:spPr/>
    </dgm:pt>
    <dgm:pt modelId="{ABF468E0-5EE4-4525-9E48-10C67183E6BA}" type="pres">
      <dgm:prSet presAssocID="{D5DCEE27-7AF5-4AD0-B76D-1284513E29FC}" presName="childNode" presStyleLbl="node1" presStyleIdx="0" presStyleCnt="6">
        <dgm:presLayoutVars>
          <dgm:bulletEnabled val="1"/>
        </dgm:presLayoutVars>
      </dgm:prSet>
      <dgm:spPr/>
    </dgm:pt>
    <dgm:pt modelId="{95216707-07C5-4417-AADA-B9259E6D9FA9}" type="pres">
      <dgm:prSet presAssocID="{D5DCEE27-7AF5-4AD0-B76D-1284513E29FC}" presName="aSpace2" presStyleCnt="0"/>
      <dgm:spPr/>
    </dgm:pt>
    <dgm:pt modelId="{0480CD48-7C14-4FB6-B261-BB7645B1676C}" type="pres">
      <dgm:prSet presAssocID="{34FF5420-E46C-4DF8-BC39-329B62DD29D2}" presName="childNode" presStyleLbl="node1" presStyleIdx="1" presStyleCnt="6" custScaleY="203542" custLinFactNeighborY="36023">
        <dgm:presLayoutVars>
          <dgm:bulletEnabled val="1"/>
        </dgm:presLayoutVars>
      </dgm:prSet>
      <dgm:spPr/>
    </dgm:pt>
    <dgm:pt modelId="{E63BF30F-2724-4CEC-98B1-E5296112A2A7}" type="pres">
      <dgm:prSet presAssocID="{755902D4-5134-4B00-A01C-980CDB883BCF}" presName="aSpace" presStyleCnt="0"/>
      <dgm:spPr/>
    </dgm:pt>
    <dgm:pt modelId="{A2E9699F-EB0E-4DC5-8E57-EA34FBA668FA}" type="pres">
      <dgm:prSet presAssocID="{95D1F13B-6AAD-4CA4-AA76-9F79D39576DF}" presName="compNode" presStyleCnt="0"/>
      <dgm:spPr/>
    </dgm:pt>
    <dgm:pt modelId="{FF6791EC-7178-46DF-8177-044F8EE88370}" type="pres">
      <dgm:prSet presAssocID="{95D1F13B-6AAD-4CA4-AA76-9F79D39576DF}" presName="aNode" presStyleLbl="bgShp" presStyleIdx="1" presStyleCnt="3"/>
      <dgm:spPr/>
    </dgm:pt>
    <dgm:pt modelId="{AEE864F3-E6BA-4B8D-B8FC-84E5E5827D75}" type="pres">
      <dgm:prSet presAssocID="{95D1F13B-6AAD-4CA4-AA76-9F79D39576DF}" presName="textNode" presStyleLbl="bgShp" presStyleIdx="1" presStyleCnt="3"/>
      <dgm:spPr/>
    </dgm:pt>
    <dgm:pt modelId="{517B21FE-02ED-418A-9B2B-471188F2765E}" type="pres">
      <dgm:prSet presAssocID="{95D1F13B-6AAD-4CA4-AA76-9F79D39576DF}" presName="compChildNode" presStyleCnt="0"/>
      <dgm:spPr/>
    </dgm:pt>
    <dgm:pt modelId="{9FCCAA6D-3102-4216-8B44-75A08AEFD165}" type="pres">
      <dgm:prSet presAssocID="{95D1F13B-6AAD-4CA4-AA76-9F79D39576DF}" presName="theInnerList" presStyleCnt="0"/>
      <dgm:spPr/>
    </dgm:pt>
    <dgm:pt modelId="{BCB9BE61-BE19-4251-88A5-10D7645485A2}" type="pres">
      <dgm:prSet presAssocID="{22A03866-5A22-4710-A32E-5FED514F2EEE}" presName="childNode" presStyleLbl="node1" presStyleIdx="2" presStyleCnt="6">
        <dgm:presLayoutVars>
          <dgm:bulletEnabled val="1"/>
        </dgm:presLayoutVars>
      </dgm:prSet>
      <dgm:spPr/>
    </dgm:pt>
    <dgm:pt modelId="{2C50502F-7F6E-4A91-8A13-A5F6ED5C47CA}" type="pres">
      <dgm:prSet presAssocID="{22A03866-5A22-4710-A32E-5FED514F2EEE}" presName="aSpace2" presStyleCnt="0"/>
      <dgm:spPr/>
    </dgm:pt>
    <dgm:pt modelId="{87C88A9C-C012-4DC1-8036-83B9E2F79C23}" type="pres">
      <dgm:prSet presAssocID="{57083622-6E68-4E13-A320-2A7B071CF4F3}" presName="childNode" presStyleLbl="node1" presStyleIdx="3" presStyleCnt="6" custScaleY="203542" custLinFactNeighborY="36023">
        <dgm:presLayoutVars>
          <dgm:bulletEnabled val="1"/>
        </dgm:presLayoutVars>
      </dgm:prSet>
      <dgm:spPr/>
    </dgm:pt>
    <dgm:pt modelId="{EFB45081-B445-4F44-9D29-74E029D5282F}" type="pres">
      <dgm:prSet presAssocID="{95D1F13B-6AAD-4CA4-AA76-9F79D39576DF}" presName="aSpace" presStyleCnt="0"/>
      <dgm:spPr/>
    </dgm:pt>
    <dgm:pt modelId="{22E4E7F0-6F7D-4C12-9CAC-40E23514EF54}" type="pres">
      <dgm:prSet presAssocID="{EC718F66-7151-454F-A145-74F6762BDA77}" presName="compNode" presStyleCnt="0"/>
      <dgm:spPr/>
    </dgm:pt>
    <dgm:pt modelId="{CA198546-73BE-43F4-9B73-FECAF7FD0241}" type="pres">
      <dgm:prSet presAssocID="{EC718F66-7151-454F-A145-74F6762BDA77}" presName="aNode" presStyleLbl="bgShp" presStyleIdx="2" presStyleCnt="3"/>
      <dgm:spPr/>
    </dgm:pt>
    <dgm:pt modelId="{526860AD-DBC5-4C5A-B708-939FD2D194E6}" type="pres">
      <dgm:prSet presAssocID="{EC718F66-7151-454F-A145-74F6762BDA77}" presName="textNode" presStyleLbl="bgShp" presStyleIdx="2" presStyleCnt="3"/>
      <dgm:spPr/>
    </dgm:pt>
    <dgm:pt modelId="{F61AAC4E-CDD6-4675-AD0F-386A9BCFEF00}" type="pres">
      <dgm:prSet presAssocID="{EC718F66-7151-454F-A145-74F6762BDA77}" presName="compChildNode" presStyleCnt="0"/>
      <dgm:spPr/>
    </dgm:pt>
    <dgm:pt modelId="{42CD2239-A97D-4343-825D-1C6EAE8A547D}" type="pres">
      <dgm:prSet presAssocID="{EC718F66-7151-454F-A145-74F6762BDA77}" presName="theInnerList" presStyleCnt="0"/>
      <dgm:spPr/>
    </dgm:pt>
    <dgm:pt modelId="{0A42048A-C978-4D61-B7A8-E561A939EC2E}" type="pres">
      <dgm:prSet presAssocID="{D3E0AE43-D652-4EF5-903D-753B3356CAC4}" presName="childNode" presStyleLbl="node1" presStyleIdx="4" presStyleCnt="6">
        <dgm:presLayoutVars>
          <dgm:bulletEnabled val="1"/>
        </dgm:presLayoutVars>
      </dgm:prSet>
      <dgm:spPr/>
    </dgm:pt>
    <dgm:pt modelId="{2A147A6C-38EA-482A-979C-84B4DD5712FA}" type="pres">
      <dgm:prSet presAssocID="{D3E0AE43-D652-4EF5-903D-753B3356CAC4}" presName="aSpace2" presStyleCnt="0"/>
      <dgm:spPr/>
    </dgm:pt>
    <dgm:pt modelId="{EEC2CF85-B487-4727-9C8D-24E69967B259}" type="pres">
      <dgm:prSet presAssocID="{6D25A5DA-AC00-41FD-AB3E-B4A69C1EB35D}" presName="childNode" presStyleLbl="node1" presStyleIdx="5" presStyleCnt="6" custScaleY="203542" custLinFactNeighborY="36023">
        <dgm:presLayoutVars>
          <dgm:bulletEnabled val="1"/>
        </dgm:presLayoutVars>
      </dgm:prSet>
      <dgm:spPr/>
    </dgm:pt>
  </dgm:ptLst>
  <dgm:cxnLst>
    <dgm:cxn modelId="{262A1401-E7FF-47ED-80A4-48EE285D7E03}" srcId="{95D1F13B-6AAD-4CA4-AA76-9F79D39576DF}" destId="{57083622-6E68-4E13-A320-2A7B071CF4F3}" srcOrd="1" destOrd="0" parTransId="{AEEACDE9-D89A-4470-B095-885AA69FE359}" sibTransId="{B5D337C1-915F-49CA-B45C-B7928CCB89B0}"/>
    <dgm:cxn modelId="{F952F311-7E85-4857-8F03-64561D0C2F39}" type="presOf" srcId="{67D82958-91C2-473B-A807-4E8E9A2D71CF}" destId="{632B9253-F962-4E8E-8B24-BC4487BEBB32}" srcOrd="0" destOrd="0" presId="urn:microsoft.com/office/officeart/2005/8/layout/lProcess2"/>
    <dgm:cxn modelId="{42A71812-18AE-44D2-8B0E-B14602B1FBB5}" type="presOf" srcId="{D3E0AE43-D652-4EF5-903D-753B3356CAC4}" destId="{0A42048A-C978-4D61-B7A8-E561A939EC2E}" srcOrd="0" destOrd="0" presId="urn:microsoft.com/office/officeart/2005/8/layout/lProcess2"/>
    <dgm:cxn modelId="{36F31C16-A9E3-4428-A3B7-1F371F1F50DD}" srcId="{755902D4-5134-4B00-A01C-980CDB883BCF}" destId="{34FF5420-E46C-4DF8-BC39-329B62DD29D2}" srcOrd="1" destOrd="0" parTransId="{A511ECA6-0187-4C5B-A8C9-E2FCC262B483}" sibTransId="{793E33E3-E78D-42C5-B5F0-4D2B9B685FB4}"/>
    <dgm:cxn modelId="{45FC0E1A-FC80-4F72-BE0F-3FB45208ED85}" type="presOf" srcId="{57083622-6E68-4E13-A320-2A7B071CF4F3}" destId="{87C88A9C-C012-4DC1-8036-83B9E2F79C23}" srcOrd="0" destOrd="0" presId="urn:microsoft.com/office/officeart/2005/8/layout/lProcess2"/>
    <dgm:cxn modelId="{A5918431-4851-4A56-A29C-1B464FE5B323}" srcId="{67D82958-91C2-473B-A807-4E8E9A2D71CF}" destId="{95D1F13B-6AAD-4CA4-AA76-9F79D39576DF}" srcOrd="1" destOrd="0" parTransId="{17177E41-FC9D-4C43-A7D5-5A615FCB83D0}" sibTransId="{9ECA3EBC-4553-4171-9B50-22D31E2DD3AA}"/>
    <dgm:cxn modelId="{2F0F7A3D-1271-4916-984C-97A6DDED4D19}" srcId="{67D82958-91C2-473B-A807-4E8E9A2D71CF}" destId="{755902D4-5134-4B00-A01C-980CDB883BCF}" srcOrd="0" destOrd="0" parTransId="{CBA7C869-7A0A-4B00-84F4-DC1FCED15811}" sibTransId="{2DA33273-E44C-400F-A763-EED89E43566D}"/>
    <dgm:cxn modelId="{53E2555F-C0D4-4229-AB81-FB04BBE8C55D}" type="presOf" srcId="{95D1F13B-6AAD-4CA4-AA76-9F79D39576DF}" destId="{FF6791EC-7178-46DF-8177-044F8EE88370}" srcOrd="0" destOrd="0" presId="urn:microsoft.com/office/officeart/2005/8/layout/lProcess2"/>
    <dgm:cxn modelId="{E8E60A63-1FBF-4A05-AE77-44413DC375E5}" type="presOf" srcId="{EC718F66-7151-454F-A145-74F6762BDA77}" destId="{CA198546-73BE-43F4-9B73-FECAF7FD0241}" srcOrd="0" destOrd="0" presId="urn:microsoft.com/office/officeart/2005/8/layout/lProcess2"/>
    <dgm:cxn modelId="{68870144-4CDE-4D42-ADDF-ACDC1C23A5BB}" srcId="{95D1F13B-6AAD-4CA4-AA76-9F79D39576DF}" destId="{22A03866-5A22-4710-A32E-5FED514F2EEE}" srcOrd="0" destOrd="0" parTransId="{4E401FD2-C91F-41FF-B85C-C6D35A082C51}" sibTransId="{0EDDA0A1-07D9-4AAC-A274-DF222C730A5A}"/>
    <dgm:cxn modelId="{4B93314D-46BB-4852-A563-7F8734A6016C}" type="presOf" srcId="{755902D4-5134-4B00-A01C-980CDB883BCF}" destId="{878BB07A-5F73-403C-96DB-0BCD93CA208B}" srcOrd="0" destOrd="0" presId="urn:microsoft.com/office/officeart/2005/8/layout/lProcess2"/>
    <dgm:cxn modelId="{B9F1EB51-1D9B-4B82-BA53-8B9FFA9FC1F1}" type="presOf" srcId="{EC718F66-7151-454F-A145-74F6762BDA77}" destId="{526860AD-DBC5-4C5A-B708-939FD2D194E6}" srcOrd="1" destOrd="0" presId="urn:microsoft.com/office/officeart/2005/8/layout/lProcess2"/>
    <dgm:cxn modelId="{F0027583-2093-4550-8B73-8D9112D442E3}" srcId="{67D82958-91C2-473B-A807-4E8E9A2D71CF}" destId="{EC718F66-7151-454F-A145-74F6762BDA77}" srcOrd="2" destOrd="0" parTransId="{60E8278F-E4CE-4931-A56A-FE05A5FD0716}" sibTransId="{7D702F54-6712-41F4-A6B0-E8BB9E0BC257}"/>
    <dgm:cxn modelId="{4C04EC8C-4996-4D0F-8ED8-8DDCD53D64E9}" srcId="{EC718F66-7151-454F-A145-74F6762BDA77}" destId="{6D25A5DA-AC00-41FD-AB3E-B4A69C1EB35D}" srcOrd="1" destOrd="0" parTransId="{4E9F2B3D-D62F-4738-A76E-1F6EF17D15BB}" sibTransId="{C4069B3A-A93E-46C7-BA41-84723B5E4CBD}"/>
    <dgm:cxn modelId="{B4D0D89F-5F89-437E-A7D2-6764B3926952}" type="presOf" srcId="{34FF5420-E46C-4DF8-BC39-329B62DD29D2}" destId="{0480CD48-7C14-4FB6-B261-BB7645B1676C}" srcOrd="0" destOrd="0" presId="urn:microsoft.com/office/officeart/2005/8/layout/lProcess2"/>
    <dgm:cxn modelId="{1BCE34A5-ECA1-4905-89B0-1C57803791D2}" srcId="{755902D4-5134-4B00-A01C-980CDB883BCF}" destId="{D5DCEE27-7AF5-4AD0-B76D-1284513E29FC}" srcOrd="0" destOrd="0" parTransId="{A5D94BE9-FD36-4707-BFEF-5C807AE38BE6}" sibTransId="{23722B2E-62B0-4D43-B69B-BB49C3C5A45E}"/>
    <dgm:cxn modelId="{EB307EC9-4294-4536-B698-6986157FD3C9}" type="presOf" srcId="{755902D4-5134-4B00-A01C-980CDB883BCF}" destId="{69756191-59B7-4568-B50C-4C152CBA259F}" srcOrd="1" destOrd="0" presId="urn:microsoft.com/office/officeart/2005/8/layout/lProcess2"/>
    <dgm:cxn modelId="{8DFC54D5-B9BF-43FC-81AA-42FE3BE695D2}" srcId="{EC718F66-7151-454F-A145-74F6762BDA77}" destId="{D3E0AE43-D652-4EF5-903D-753B3356CAC4}" srcOrd="0" destOrd="0" parTransId="{29CA61AB-ECD0-4B92-A62F-1327A14DFE0A}" sibTransId="{1B4F1A47-0B5D-4BEF-A8E2-3605C07FC2D8}"/>
    <dgm:cxn modelId="{2AFF05D7-BAA6-4905-AE71-F4E293486D2D}" type="presOf" srcId="{6D25A5DA-AC00-41FD-AB3E-B4A69C1EB35D}" destId="{EEC2CF85-B487-4727-9C8D-24E69967B259}" srcOrd="0" destOrd="0" presId="urn:microsoft.com/office/officeart/2005/8/layout/lProcess2"/>
    <dgm:cxn modelId="{1CB183DB-D8DF-4FE9-AE28-D08418ED4B94}" type="presOf" srcId="{95D1F13B-6AAD-4CA4-AA76-9F79D39576DF}" destId="{AEE864F3-E6BA-4B8D-B8FC-84E5E5827D75}" srcOrd="1" destOrd="0" presId="urn:microsoft.com/office/officeart/2005/8/layout/lProcess2"/>
    <dgm:cxn modelId="{291129E0-B174-4D0E-9074-C48390E2E52C}" type="presOf" srcId="{D5DCEE27-7AF5-4AD0-B76D-1284513E29FC}" destId="{ABF468E0-5EE4-4525-9E48-10C67183E6BA}" srcOrd="0" destOrd="0" presId="urn:microsoft.com/office/officeart/2005/8/layout/lProcess2"/>
    <dgm:cxn modelId="{CCC9F4EA-2AAB-4DDC-8BD3-02E7CCCACAA0}" type="presOf" srcId="{22A03866-5A22-4710-A32E-5FED514F2EEE}" destId="{BCB9BE61-BE19-4251-88A5-10D7645485A2}" srcOrd="0" destOrd="0" presId="urn:microsoft.com/office/officeart/2005/8/layout/lProcess2"/>
    <dgm:cxn modelId="{509B9097-532A-4198-B326-B6338E89EDAF}" type="presParOf" srcId="{632B9253-F962-4E8E-8B24-BC4487BEBB32}" destId="{B976DBC7-8B5D-410A-83A6-534600E144D6}" srcOrd="0" destOrd="0" presId="urn:microsoft.com/office/officeart/2005/8/layout/lProcess2"/>
    <dgm:cxn modelId="{6875E181-598B-4A1E-9B2C-1BBF369C72AE}" type="presParOf" srcId="{B976DBC7-8B5D-410A-83A6-534600E144D6}" destId="{878BB07A-5F73-403C-96DB-0BCD93CA208B}" srcOrd="0" destOrd="0" presId="urn:microsoft.com/office/officeart/2005/8/layout/lProcess2"/>
    <dgm:cxn modelId="{CAB53B23-E37F-47D1-82AB-BE4B90B5BF7F}" type="presParOf" srcId="{B976DBC7-8B5D-410A-83A6-534600E144D6}" destId="{69756191-59B7-4568-B50C-4C152CBA259F}" srcOrd="1" destOrd="0" presId="urn:microsoft.com/office/officeart/2005/8/layout/lProcess2"/>
    <dgm:cxn modelId="{F9EB1C7D-328A-48A3-A231-F87E3DE96962}" type="presParOf" srcId="{B976DBC7-8B5D-410A-83A6-534600E144D6}" destId="{6317B68C-7EC2-4D00-AE31-B322A10CE626}" srcOrd="2" destOrd="0" presId="urn:microsoft.com/office/officeart/2005/8/layout/lProcess2"/>
    <dgm:cxn modelId="{B0EDD8A0-55F3-4DD0-8846-A6FF2E140C50}" type="presParOf" srcId="{6317B68C-7EC2-4D00-AE31-B322A10CE626}" destId="{E92FF910-040C-4C1F-98D0-812C3A98BF1A}" srcOrd="0" destOrd="0" presId="urn:microsoft.com/office/officeart/2005/8/layout/lProcess2"/>
    <dgm:cxn modelId="{2EA57F4E-37DE-40B3-9F7C-EE01850CAD37}" type="presParOf" srcId="{E92FF910-040C-4C1F-98D0-812C3A98BF1A}" destId="{ABF468E0-5EE4-4525-9E48-10C67183E6BA}" srcOrd="0" destOrd="0" presId="urn:microsoft.com/office/officeart/2005/8/layout/lProcess2"/>
    <dgm:cxn modelId="{4F93FE6C-003B-4EF0-BA26-42F5A7CEECFF}" type="presParOf" srcId="{E92FF910-040C-4C1F-98D0-812C3A98BF1A}" destId="{95216707-07C5-4417-AADA-B9259E6D9FA9}" srcOrd="1" destOrd="0" presId="urn:microsoft.com/office/officeart/2005/8/layout/lProcess2"/>
    <dgm:cxn modelId="{D1F73420-2C15-4C33-B63E-8A13C26494FD}" type="presParOf" srcId="{E92FF910-040C-4C1F-98D0-812C3A98BF1A}" destId="{0480CD48-7C14-4FB6-B261-BB7645B1676C}" srcOrd="2" destOrd="0" presId="urn:microsoft.com/office/officeart/2005/8/layout/lProcess2"/>
    <dgm:cxn modelId="{97EF5E44-6854-4E06-8A92-CC7DC41E4463}" type="presParOf" srcId="{632B9253-F962-4E8E-8B24-BC4487BEBB32}" destId="{E63BF30F-2724-4CEC-98B1-E5296112A2A7}" srcOrd="1" destOrd="0" presId="urn:microsoft.com/office/officeart/2005/8/layout/lProcess2"/>
    <dgm:cxn modelId="{8B257D70-CAC0-495E-92D1-25232FC2F6E5}" type="presParOf" srcId="{632B9253-F962-4E8E-8B24-BC4487BEBB32}" destId="{A2E9699F-EB0E-4DC5-8E57-EA34FBA668FA}" srcOrd="2" destOrd="0" presId="urn:microsoft.com/office/officeart/2005/8/layout/lProcess2"/>
    <dgm:cxn modelId="{DCF9C065-00AA-4739-A62B-5628D3CFE8FF}" type="presParOf" srcId="{A2E9699F-EB0E-4DC5-8E57-EA34FBA668FA}" destId="{FF6791EC-7178-46DF-8177-044F8EE88370}" srcOrd="0" destOrd="0" presId="urn:microsoft.com/office/officeart/2005/8/layout/lProcess2"/>
    <dgm:cxn modelId="{45BABA70-0885-4050-B6DE-BA87181A9507}" type="presParOf" srcId="{A2E9699F-EB0E-4DC5-8E57-EA34FBA668FA}" destId="{AEE864F3-E6BA-4B8D-B8FC-84E5E5827D75}" srcOrd="1" destOrd="0" presId="urn:microsoft.com/office/officeart/2005/8/layout/lProcess2"/>
    <dgm:cxn modelId="{83ADAB6A-DD2C-4793-8AC1-9C12B529FEEE}" type="presParOf" srcId="{A2E9699F-EB0E-4DC5-8E57-EA34FBA668FA}" destId="{517B21FE-02ED-418A-9B2B-471188F2765E}" srcOrd="2" destOrd="0" presId="urn:microsoft.com/office/officeart/2005/8/layout/lProcess2"/>
    <dgm:cxn modelId="{8CAA75B3-B6E3-4E47-9A2F-16DB00AC5CCB}" type="presParOf" srcId="{517B21FE-02ED-418A-9B2B-471188F2765E}" destId="{9FCCAA6D-3102-4216-8B44-75A08AEFD165}" srcOrd="0" destOrd="0" presId="urn:microsoft.com/office/officeart/2005/8/layout/lProcess2"/>
    <dgm:cxn modelId="{32D258E8-6220-40BB-96C4-F54B6845DF12}" type="presParOf" srcId="{9FCCAA6D-3102-4216-8B44-75A08AEFD165}" destId="{BCB9BE61-BE19-4251-88A5-10D7645485A2}" srcOrd="0" destOrd="0" presId="urn:microsoft.com/office/officeart/2005/8/layout/lProcess2"/>
    <dgm:cxn modelId="{1CD0E569-97B8-4578-8FF8-9B9883DF18DE}" type="presParOf" srcId="{9FCCAA6D-3102-4216-8B44-75A08AEFD165}" destId="{2C50502F-7F6E-4A91-8A13-A5F6ED5C47CA}" srcOrd="1" destOrd="0" presId="urn:microsoft.com/office/officeart/2005/8/layout/lProcess2"/>
    <dgm:cxn modelId="{1DAF1641-65FC-4779-8DC7-FF0B6E5708C8}" type="presParOf" srcId="{9FCCAA6D-3102-4216-8B44-75A08AEFD165}" destId="{87C88A9C-C012-4DC1-8036-83B9E2F79C23}" srcOrd="2" destOrd="0" presId="urn:microsoft.com/office/officeart/2005/8/layout/lProcess2"/>
    <dgm:cxn modelId="{79E9DA63-E45C-4E43-94B1-D0C9871DC57C}" type="presParOf" srcId="{632B9253-F962-4E8E-8B24-BC4487BEBB32}" destId="{EFB45081-B445-4F44-9D29-74E029D5282F}" srcOrd="3" destOrd="0" presId="urn:microsoft.com/office/officeart/2005/8/layout/lProcess2"/>
    <dgm:cxn modelId="{8F1E3441-3298-416F-AAAC-B5D38DEEA025}" type="presParOf" srcId="{632B9253-F962-4E8E-8B24-BC4487BEBB32}" destId="{22E4E7F0-6F7D-4C12-9CAC-40E23514EF54}" srcOrd="4" destOrd="0" presId="urn:microsoft.com/office/officeart/2005/8/layout/lProcess2"/>
    <dgm:cxn modelId="{B3602A13-FF7C-4A42-AC02-FC5C2AE8EBA6}" type="presParOf" srcId="{22E4E7F0-6F7D-4C12-9CAC-40E23514EF54}" destId="{CA198546-73BE-43F4-9B73-FECAF7FD0241}" srcOrd="0" destOrd="0" presId="urn:microsoft.com/office/officeart/2005/8/layout/lProcess2"/>
    <dgm:cxn modelId="{15AFCDCE-F3B4-4935-B831-58773E848BE3}" type="presParOf" srcId="{22E4E7F0-6F7D-4C12-9CAC-40E23514EF54}" destId="{526860AD-DBC5-4C5A-B708-939FD2D194E6}" srcOrd="1" destOrd="0" presId="urn:microsoft.com/office/officeart/2005/8/layout/lProcess2"/>
    <dgm:cxn modelId="{15FE20C8-200D-4DE6-ADF0-4E16FB2CC5FE}" type="presParOf" srcId="{22E4E7F0-6F7D-4C12-9CAC-40E23514EF54}" destId="{F61AAC4E-CDD6-4675-AD0F-386A9BCFEF00}" srcOrd="2" destOrd="0" presId="urn:microsoft.com/office/officeart/2005/8/layout/lProcess2"/>
    <dgm:cxn modelId="{4C7F956D-FBC9-40DD-A2E2-7EED46C49281}" type="presParOf" srcId="{F61AAC4E-CDD6-4675-AD0F-386A9BCFEF00}" destId="{42CD2239-A97D-4343-825D-1C6EAE8A547D}" srcOrd="0" destOrd="0" presId="urn:microsoft.com/office/officeart/2005/8/layout/lProcess2"/>
    <dgm:cxn modelId="{E49B4B89-5EE9-4494-A9F9-319ACB6E21FE}" type="presParOf" srcId="{42CD2239-A97D-4343-825D-1C6EAE8A547D}" destId="{0A42048A-C978-4D61-B7A8-E561A939EC2E}" srcOrd="0" destOrd="0" presId="urn:microsoft.com/office/officeart/2005/8/layout/lProcess2"/>
    <dgm:cxn modelId="{5C30B185-BF72-445C-9692-FC3B2D297FF3}" type="presParOf" srcId="{42CD2239-A97D-4343-825D-1C6EAE8A547D}" destId="{2A147A6C-38EA-482A-979C-84B4DD5712FA}" srcOrd="1" destOrd="0" presId="urn:microsoft.com/office/officeart/2005/8/layout/lProcess2"/>
    <dgm:cxn modelId="{E424271C-FFBA-4E90-B312-33E32213E690}" type="presParOf" srcId="{42CD2239-A97D-4343-825D-1C6EAE8A547D}" destId="{EEC2CF85-B487-4727-9C8D-24E69967B259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BB07A-5F73-403C-96DB-0BCD93CA208B}">
      <dsp:nvSpPr>
        <dsp:cNvPr id="0" name=""/>
        <dsp:cNvSpPr/>
      </dsp:nvSpPr>
      <dsp:spPr>
        <a:xfrm>
          <a:off x="0" y="0"/>
          <a:ext cx="2708671" cy="50609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Metallic</a:t>
          </a:r>
          <a:r>
            <a:rPr lang="en-GB" sz="2700" kern="1200"/>
            <a:t> Bonding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rgbClr val="7030A0"/>
              </a:solidFill>
            </a:rPr>
            <a:t>Metal</a:t>
          </a:r>
        </a:p>
      </dsp:txBody>
      <dsp:txXfrm>
        <a:off x="0" y="0"/>
        <a:ext cx="2708671" cy="1518285"/>
      </dsp:txXfrm>
    </dsp:sp>
    <dsp:sp modelId="{ABF468E0-5EE4-4525-9E48-10C67183E6BA}">
      <dsp:nvSpPr>
        <dsp:cNvPr id="0" name=""/>
        <dsp:cNvSpPr/>
      </dsp:nvSpPr>
      <dsp:spPr>
        <a:xfrm>
          <a:off x="271908" y="1518679"/>
          <a:ext cx="2166937" cy="103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Electrons are delocalised</a:t>
          </a:r>
        </a:p>
      </dsp:txBody>
      <dsp:txXfrm>
        <a:off x="302111" y="1548882"/>
        <a:ext cx="2106531" cy="970811"/>
      </dsp:txXfrm>
    </dsp:sp>
    <dsp:sp modelId="{0480CD48-7C14-4FB6-B261-BB7645B1676C}">
      <dsp:nvSpPr>
        <dsp:cNvPr id="0" name=""/>
        <dsp:cNvSpPr/>
      </dsp:nvSpPr>
      <dsp:spPr>
        <a:xfrm>
          <a:off x="271908" y="2765696"/>
          <a:ext cx="2166937" cy="2098961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333384" y="2827172"/>
        <a:ext cx="2043985" cy="1976009"/>
      </dsp:txXfrm>
    </dsp:sp>
    <dsp:sp modelId="{FF6791EC-7178-46DF-8177-044F8EE88370}">
      <dsp:nvSpPr>
        <dsp:cNvPr id="0" name=""/>
        <dsp:cNvSpPr/>
      </dsp:nvSpPr>
      <dsp:spPr>
        <a:xfrm>
          <a:off x="2912864" y="0"/>
          <a:ext cx="2708671" cy="50609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Ionic </a:t>
          </a:r>
          <a:r>
            <a:rPr lang="en-GB" sz="2700" kern="1200"/>
            <a:t>Bonding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rgbClr val="7030A0"/>
              </a:solidFill>
            </a:rPr>
            <a:t>Metal + non-metal</a:t>
          </a:r>
        </a:p>
      </dsp:txBody>
      <dsp:txXfrm>
        <a:off x="2912864" y="0"/>
        <a:ext cx="2708671" cy="1518285"/>
      </dsp:txXfrm>
    </dsp:sp>
    <dsp:sp modelId="{BCB9BE61-BE19-4251-88A5-10D7645485A2}">
      <dsp:nvSpPr>
        <dsp:cNvPr id="0" name=""/>
        <dsp:cNvSpPr/>
      </dsp:nvSpPr>
      <dsp:spPr>
        <a:xfrm>
          <a:off x="3183731" y="1518679"/>
          <a:ext cx="2166937" cy="103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Electrons are transferred</a:t>
          </a:r>
        </a:p>
      </dsp:txBody>
      <dsp:txXfrm>
        <a:off x="3213934" y="1548882"/>
        <a:ext cx="2106531" cy="970811"/>
      </dsp:txXfrm>
    </dsp:sp>
    <dsp:sp modelId="{87C88A9C-C012-4DC1-8036-83B9E2F79C23}">
      <dsp:nvSpPr>
        <dsp:cNvPr id="0" name=""/>
        <dsp:cNvSpPr/>
      </dsp:nvSpPr>
      <dsp:spPr>
        <a:xfrm>
          <a:off x="3183731" y="2765696"/>
          <a:ext cx="2166937" cy="2098961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3245207" y="2827172"/>
        <a:ext cx="2043985" cy="1976009"/>
      </dsp:txXfrm>
    </dsp:sp>
    <dsp:sp modelId="{CA198546-73BE-43F4-9B73-FECAF7FD0241}">
      <dsp:nvSpPr>
        <dsp:cNvPr id="0" name=""/>
        <dsp:cNvSpPr/>
      </dsp:nvSpPr>
      <dsp:spPr>
        <a:xfrm>
          <a:off x="5824686" y="0"/>
          <a:ext cx="2708671" cy="50609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Covalent</a:t>
          </a:r>
          <a:r>
            <a:rPr lang="en-GB" sz="2700" kern="1200"/>
            <a:t> Bonding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rgbClr val="7030A0"/>
              </a:solidFill>
            </a:rPr>
            <a:t>Non-metals</a:t>
          </a:r>
        </a:p>
      </dsp:txBody>
      <dsp:txXfrm>
        <a:off x="5824686" y="0"/>
        <a:ext cx="2708671" cy="1518285"/>
      </dsp:txXfrm>
    </dsp:sp>
    <dsp:sp modelId="{0A42048A-C978-4D61-B7A8-E561A939EC2E}">
      <dsp:nvSpPr>
        <dsp:cNvPr id="0" name=""/>
        <dsp:cNvSpPr/>
      </dsp:nvSpPr>
      <dsp:spPr>
        <a:xfrm>
          <a:off x="6095553" y="1518679"/>
          <a:ext cx="2166937" cy="103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Electrons are shared</a:t>
          </a:r>
        </a:p>
      </dsp:txBody>
      <dsp:txXfrm>
        <a:off x="6125756" y="1548882"/>
        <a:ext cx="2106531" cy="970811"/>
      </dsp:txXfrm>
    </dsp:sp>
    <dsp:sp modelId="{EEC2CF85-B487-4727-9C8D-24E69967B259}">
      <dsp:nvSpPr>
        <dsp:cNvPr id="0" name=""/>
        <dsp:cNvSpPr/>
      </dsp:nvSpPr>
      <dsp:spPr>
        <a:xfrm>
          <a:off x="6095553" y="2765696"/>
          <a:ext cx="2166937" cy="2098961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6157029" y="2827172"/>
        <a:ext cx="2043985" cy="1976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10"/>
          </a:xfrm>
          <a:prstGeom prst="rect">
            <a:avLst/>
          </a:prstGeom>
        </p:spPr>
        <p:txBody>
          <a:bodyPr vert="horz" lIns="90196" tIns="45098" rIns="90196" bIns="4509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9080" y="0"/>
            <a:ext cx="2914015" cy="490410"/>
          </a:xfrm>
          <a:prstGeom prst="rect">
            <a:avLst/>
          </a:prstGeom>
        </p:spPr>
        <p:txBody>
          <a:bodyPr vert="horz" lIns="90196" tIns="45098" rIns="90196" bIns="45098" rtlCol="0"/>
          <a:lstStyle>
            <a:lvl1pPr algn="r">
              <a:defRPr sz="1200"/>
            </a:lvl1pPr>
          </a:lstStyle>
          <a:p>
            <a:fld id="{D39A3FDA-92BE-4AAA-989F-F5A1146607D8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22375"/>
            <a:ext cx="4397375" cy="3297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196" tIns="45098" rIns="90196" bIns="4509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2465" y="4703853"/>
            <a:ext cx="5379720" cy="3848606"/>
          </a:xfrm>
          <a:prstGeom prst="rect">
            <a:avLst/>
          </a:prstGeom>
        </p:spPr>
        <p:txBody>
          <a:bodyPr vert="horz" lIns="90196" tIns="45098" rIns="90196" bIns="4509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90409"/>
          </a:xfrm>
          <a:prstGeom prst="rect">
            <a:avLst/>
          </a:prstGeom>
        </p:spPr>
        <p:txBody>
          <a:bodyPr vert="horz" lIns="90196" tIns="45098" rIns="90196" bIns="4509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9080" y="9283830"/>
            <a:ext cx="2914015" cy="490409"/>
          </a:xfrm>
          <a:prstGeom prst="rect">
            <a:avLst/>
          </a:prstGeom>
        </p:spPr>
        <p:txBody>
          <a:bodyPr vert="horz" lIns="90196" tIns="45098" rIns="90196" bIns="45098" rtlCol="0" anchor="b"/>
          <a:lstStyle>
            <a:lvl1pPr algn="r">
              <a:defRPr sz="1200"/>
            </a:lvl1pPr>
          </a:lstStyle>
          <a:p>
            <a:fld id="{964E7CA0-70AC-433F-AFE3-922CB8362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59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EB457-DACC-440D-AF3A-E1AD5291627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6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00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41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63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8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30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39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48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8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5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35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53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E736-FBC2-480A-96A7-0AE581481A99}" type="datetimeFigureOut">
              <a:rPr lang="en-GB" smtClean="0"/>
              <a:t>16/04/2024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72BD0-6484-4337-8C96-5CD62D1116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09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gif"/><Relationship Id="rId4" Type="http://schemas.openxmlformats.org/officeDocument/2006/relationships/diagramLayout" Target="../diagrams/layout1.xml"/><Relationship Id="rId9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D3B321-3336-3074-0DCE-3B07F6A1D4AB}"/>
              </a:ext>
            </a:extLst>
          </p:cNvPr>
          <p:cNvSpPr/>
          <p:nvPr/>
        </p:nvSpPr>
        <p:spPr>
          <a:xfrm>
            <a:off x="1451429" y="0"/>
            <a:ext cx="6540046" cy="635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Types of Bonding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A344F659-0CF1-4C52-D1CC-DF12F71ED4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021475"/>
              </p:ext>
            </p:extLst>
          </p:nvPr>
        </p:nvGraphicFramePr>
        <p:xfrm>
          <a:off x="304800" y="1397000"/>
          <a:ext cx="8534400" cy="5060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327C378D-B87B-9F69-7A9C-37B5181CC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34"/>
          <a:stretch/>
        </p:blipFill>
        <p:spPr bwMode="auto">
          <a:xfrm>
            <a:off x="706665" y="4695825"/>
            <a:ext cx="1902286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>
            <a:extLst>
              <a:ext uri="{FF2B5EF4-FFF2-40B4-BE49-F238E27FC236}">
                <a16:creationId xmlns:a16="http://schemas.microsoft.com/office/drawing/2014/main" id="{A845E283-48BF-DD18-65D5-9FDFAA27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394" y="4637463"/>
            <a:ext cx="2081212" cy="121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3EF54B40-C9B1-77AB-22DC-28B66C68D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5" r="11364"/>
          <a:stretch/>
        </p:blipFill>
        <p:spPr bwMode="auto">
          <a:xfrm>
            <a:off x="6667500" y="4695825"/>
            <a:ext cx="16383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289198-CC77-DE51-6D10-997157E202B6}"/>
              </a:ext>
            </a:extLst>
          </p:cNvPr>
          <p:cNvSpPr/>
          <p:nvPr/>
        </p:nvSpPr>
        <p:spPr>
          <a:xfrm>
            <a:off x="0" y="0"/>
            <a:ext cx="1451429" cy="635260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tx1"/>
                </a:solidFill>
              </a:rPr>
              <a:t>Y9 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06B2E-EF9C-7B06-6844-1CD3FDBC9A07}"/>
              </a:ext>
            </a:extLst>
          </p:cNvPr>
          <p:cNvSpPr/>
          <p:nvPr/>
        </p:nvSpPr>
        <p:spPr>
          <a:xfrm>
            <a:off x="7991475" y="0"/>
            <a:ext cx="1156154" cy="635260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9C3</a:t>
            </a:r>
          </a:p>
        </p:txBody>
      </p:sp>
    </p:spTree>
    <p:extLst>
      <p:ext uri="{BB962C8B-B14F-4D97-AF65-F5344CB8AC3E}">
        <p14:creationId xmlns:p14="http://schemas.microsoft.com/office/powerpoint/2010/main" val="91800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FE287-44C0-9264-7B22-809B1CEAD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07" y="317413"/>
            <a:ext cx="8524444" cy="599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2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00D940-29B0-6711-CF1B-F680AD50ADEB}"/>
              </a:ext>
            </a:extLst>
          </p:cNvPr>
          <p:cNvSpPr txBox="1"/>
          <p:nvPr/>
        </p:nvSpPr>
        <p:spPr>
          <a:xfrm>
            <a:off x="1145593" y="1737052"/>
            <a:ext cx="7692570" cy="469359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300"/>
              <a:t>NaCl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Li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H</a:t>
            </a:r>
            <a:r>
              <a:rPr lang="en-GB" sz="2300" baseline="-25000"/>
              <a:t>2</a:t>
            </a:r>
            <a:r>
              <a:rPr lang="en-GB" sz="2300"/>
              <a:t>O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MgO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Na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Na</a:t>
            </a:r>
            <a:r>
              <a:rPr lang="en-GB" sz="2300" baseline="-25000"/>
              <a:t>2</a:t>
            </a:r>
            <a:r>
              <a:rPr lang="en-GB" sz="2300"/>
              <a:t>O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LiCl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O</a:t>
            </a:r>
            <a:r>
              <a:rPr lang="en-GB" sz="2300" baseline="-25000"/>
              <a:t>2</a:t>
            </a:r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endParaRPr lang="en-GB" sz="2300" baseline="-25000"/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H</a:t>
            </a:r>
            <a:r>
              <a:rPr lang="en-GB" sz="2300" baseline="-25000"/>
              <a:t>2</a:t>
            </a:r>
            <a:r>
              <a:rPr lang="en-GB" sz="2300"/>
              <a:t>O</a:t>
            </a:r>
            <a:r>
              <a:rPr lang="en-GB" sz="2300" baseline="-25000"/>
              <a:t>2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Cu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K</a:t>
            </a:r>
            <a:r>
              <a:rPr lang="en-GB" sz="2300" baseline="-25000"/>
              <a:t>2</a:t>
            </a:r>
            <a:r>
              <a:rPr lang="en-GB" sz="2300"/>
              <a:t>O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H</a:t>
            </a:r>
            <a:r>
              <a:rPr lang="en-GB" sz="2300" baseline="-25000"/>
              <a:t>2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CuSO</a:t>
            </a:r>
            <a:r>
              <a:rPr lang="en-GB" sz="2300" baseline="-25000"/>
              <a:t>4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CO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300"/>
              <a:t>NH</a:t>
            </a:r>
            <a:r>
              <a:rPr lang="en-GB" sz="2300" baseline="-2500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D81D2-A245-F204-DC73-1846D081C2AF}"/>
              </a:ext>
            </a:extLst>
          </p:cNvPr>
          <p:cNvSpPr/>
          <p:nvPr/>
        </p:nvSpPr>
        <p:spPr>
          <a:xfrm>
            <a:off x="1451429" y="0"/>
            <a:ext cx="6540046" cy="635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Types of Bonding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BA54A6-2FE0-8DCE-F33F-B70504D8CD9F}"/>
              </a:ext>
            </a:extLst>
          </p:cNvPr>
          <p:cNvSpPr/>
          <p:nvPr/>
        </p:nvSpPr>
        <p:spPr>
          <a:xfrm>
            <a:off x="0" y="0"/>
            <a:ext cx="1451429" cy="635260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tx1"/>
                </a:solidFill>
              </a:rPr>
              <a:t>Y9 Recap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303D6-A677-434B-7E9E-94D1F2D6A461}"/>
              </a:ext>
            </a:extLst>
          </p:cNvPr>
          <p:cNvSpPr txBox="1"/>
          <p:nvPr/>
        </p:nvSpPr>
        <p:spPr>
          <a:xfrm>
            <a:off x="142291" y="885150"/>
            <a:ext cx="8242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Identify the type of bonding in these substances: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5E812B-04C5-C8FB-BDB7-6E967DB47846}"/>
              </a:ext>
            </a:extLst>
          </p:cNvPr>
          <p:cNvSpPr/>
          <p:nvPr/>
        </p:nvSpPr>
        <p:spPr>
          <a:xfrm>
            <a:off x="7991475" y="0"/>
            <a:ext cx="1156154" cy="635260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9C3</a:t>
            </a:r>
          </a:p>
        </p:txBody>
      </p:sp>
    </p:spTree>
    <p:extLst>
      <p:ext uri="{BB962C8B-B14F-4D97-AF65-F5344CB8AC3E}">
        <p14:creationId xmlns:p14="http://schemas.microsoft.com/office/powerpoint/2010/main" val="345366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00D940-29B0-6711-CF1B-F680AD50ADEB}"/>
              </a:ext>
            </a:extLst>
          </p:cNvPr>
          <p:cNvSpPr txBox="1"/>
          <p:nvPr/>
        </p:nvSpPr>
        <p:spPr>
          <a:xfrm>
            <a:off x="493788" y="635260"/>
            <a:ext cx="769257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NaCl	</a:t>
            </a:r>
            <a:r>
              <a:rPr lang="en-GB" sz="2400">
                <a:solidFill>
                  <a:srgbClr val="00B050"/>
                </a:solidFill>
              </a:rPr>
              <a:t>ionic bonding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Li		</a:t>
            </a:r>
            <a:r>
              <a:rPr lang="en-GB" sz="2400">
                <a:solidFill>
                  <a:srgbClr val="00B050"/>
                </a:solidFill>
              </a:rPr>
              <a:t>metallic bonding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H</a:t>
            </a:r>
            <a:r>
              <a:rPr lang="en-GB" sz="2400" baseline="-25000"/>
              <a:t>2</a:t>
            </a:r>
            <a:r>
              <a:rPr lang="en-GB" sz="2400"/>
              <a:t>O		</a:t>
            </a:r>
            <a:r>
              <a:rPr lang="en-GB" sz="2400">
                <a:solidFill>
                  <a:srgbClr val="00B050"/>
                </a:solidFill>
              </a:rPr>
              <a:t>covalent bonding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MgO	</a:t>
            </a:r>
            <a:r>
              <a:rPr lang="en-GB" sz="2400">
                <a:solidFill>
                  <a:srgbClr val="00B050"/>
                </a:solidFill>
              </a:rPr>
              <a:t>ionic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Na		</a:t>
            </a:r>
            <a:r>
              <a:rPr lang="en-GB" sz="2400">
                <a:solidFill>
                  <a:srgbClr val="00B050"/>
                </a:solidFill>
              </a:rPr>
              <a:t>metallic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Na</a:t>
            </a:r>
            <a:r>
              <a:rPr lang="en-GB" sz="2400" baseline="-25000"/>
              <a:t>2</a:t>
            </a:r>
            <a:r>
              <a:rPr lang="en-GB" sz="2400"/>
              <a:t>O	</a:t>
            </a:r>
            <a:r>
              <a:rPr lang="en-GB" sz="2400">
                <a:solidFill>
                  <a:srgbClr val="00B050"/>
                </a:solidFill>
              </a:rPr>
              <a:t>ionic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LiCl		</a:t>
            </a:r>
            <a:r>
              <a:rPr lang="en-GB" sz="2400">
                <a:solidFill>
                  <a:srgbClr val="00B050"/>
                </a:solidFill>
              </a:rPr>
              <a:t>ionic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O</a:t>
            </a:r>
            <a:r>
              <a:rPr lang="en-GB" sz="2400" baseline="-25000"/>
              <a:t>2		</a:t>
            </a:r>
            <a:r>
              <a:rPr lang="en-GB" sz="2400">
                <a:solidFill>
                  <a:srgbClr val="00B050"/>
                </a:solidFill>
              </a:rPr>
              <a:t>covalent bonding </a:t>
            </a:r>
            <a:endParaRPr lang="en-GB" sz="2400" baseline="-250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H</a:t>
            </a:r>
            <a:r>
              <a:rPr lang="en-GB" sz="2400" baseline="-25000"/>
              <a:t>2</a:t>
            </a:r>
            <a:r>
              <a:rPr lang="en-GB" sz="2400"/>
              <a:t>O</a:t>
            </a:r>
            <a:r>
              <a:rPr lang="en-GB" sz="2400" baseline="-25000"/>
              <a:t>2	</a:t>
            </a:r>
            <a:r>
              <a:rPr lang="en-GB" sz="2400">
                <a:solidFill>
                  <a:srgbClr val="00B050"/>
                </a:solidFill>
              </a:rPr>
              <a:t>covalent bonding </a:t>
            </a:r>
            <a:endParaRPr lang="en-GB" sz="2400" baseline="-250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Cu		</a:t>
            </a:r>
            <a:r>
              <a:rPr lang="en-GB" sz="2400">
                <a:solidFill>
                  <a:srgbClr val="00B050"/>
                </a:solidFill>
              </a:rPr>
              <a:t>metallic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K</a:t>
            </a:r>
            <a:r>
              <a:rPr lang="en-GB" sz="2400" baseline="-25000"/>
              <a:t>2</a:t>
            </a:r>
            <a:r>
              <a:rPr lang="en-GB" sz="2400"/>
              <a:t>O		</a:t>
            </a:r>
            <a:r>
              <a:rPr lang="en-GB" sz="2400">
                <a:solidFill>
                  <a:srgbClr val="00B050"/>
                </a:solidFill>
              </a:rPr>
              <a:t>ionic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H</a:t>
            </a:r>
            <a:r>
              <a:rPr lang="en-GB" sz="2400" baseline="-25000"/>
              <a:t>2		</a:t>
            </a:r>
            <a:r>
              <a:rPr lang="en-GB" sz="2400">
                <a:solidFill>
                  <a:srgbClr val="00B050"/>
                </a:solidFill>
              </a:rPr>
              <a:t>covalent bonding </a:t>
            </a:r>
            <a:endParaRPr lang="en-GB" sz="2400" baseline="-250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CuSO</a:t>
            </a:r>
            <a:r>
              <a:rPr lang="en-GB" sz="2400" baseline="-25000"/>
              <a:t>4	</a:t>
            </a:r>
            <a:r>
              <a:rPr lang="en-GB" sz="2400">
                <a:solidFill>
                  <a:srgbClr val="00B050"/>
                </a:solidFill>
              </a:rPr>
              <a:t>ionic bonding </a:t>
            </a:r>
            <a:endParaRPr lang="en-GB" sz="2400" baseline="-250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CO		</a:t>
            </a:r>
            <a:r>
              <a:rPr lang="en-GB" sz="2400">
                <a:solidFill>
                  <a:srgbClr val="00B050"/>
                </a:solidFill>
              </a:rPr>
              <a:t>covalent bonding </a:t>
            </a:r>
            <a:endParaRPr lang="en-GB" sz="2400"/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NH</a:t>
            </a:r>
            <a:r>
              <a:rPr lang="en-GB" sz="2400" baseline="-25000"/>
              <a:t>3		</a:t>
            </a:r>
            <a:r>
              <a:rPr lang="en-GB" sz="2400">
                <a:solidFill>
                  <a:srgbClr val="00B050"/>
                </a:solidFill>
              </a:rPr>
              <a:t>covalent bonding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D81D2-A245-F204-DC73-1846D081C2AF}"/>
              </a:ext>
            </a:extLst>
          </p:cNvPr>
          <p:cNvSpPr/>
          <p:nvPr/>
        </p:nvSpPr>
        <p:spPr>
          <a:xfrm>
            <a:off x="1451429" y="0"/>
            <a:ext cx="6540046" cy="635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Types of Bonding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ADA0A1-2292-22D6-06A4-4E1F718025F4}"/>
              </a:ext>
            </a:extLst>
          </p:cNvPr>
          <p:cNvSpPr/>
          <p:nvPr/>
        </p:nvSpPr>
        <p:spPr>
          <a:xfrm>
            <a:off x="0" y="0"/>
            <a:ext cx="1451429" cy="635260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tx1"/>
                </a:solidFill>
              </a:rPr>
              <a:t>Y9 Recap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BDCA47-A32A-FAE2-7D38-6FC197CF451B}"/>
              </a:ext>
            </a:extLst>
          </p:cNvPr>
          <p:cNvSpPr/>
          <p:nvPr/>
        </p:nvSpPr>
        <p:spPr>
          <a:xfrm>
            <a:off x="7991475" y="0"/>
            <a:ext cx="1156154" cy="635260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9C3</a:t>
            </a:r>
          </a:p>
        </p:txBody>
      </p:sp>
    </p:spTree>
    <p:extLst>
      <p:ext uri="{BB962C8B-B14F-4D97-AF65-F5344CB8AC3E}">
        <p14:creationId xmlns:p14="http://schemas.microsoft.com/office/powerpoint/2010/main" val="420012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2741-D26C-BE11-FE68-9B9D1B66EE6A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E6994-DE8B-28C2-3DAA-B2CE394EAC32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Bonding Fact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A6E32-DE95-587E-7EB0-E1CB3A847898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1AB48D-86AE-4B95-E9B9-A436F30D58AE}"/>
              </a:ext>
            </a:extLst>
          </p:cNvPr>
          <p:cNvGraphicFramePr>
            <a:graphicFrameLocks noGrp="1"/>
          </p:cNvGraphicFramePr>
          <p:nvPr/>
        </p:nvGraphicFramePr>
        <p:xfrm>
          <a:off x="1451429" y="930274"/>
          <a:ext cx="6540045" cy="4632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199">
                  <a:extLst>
                    <a:ext uri="{9D8B030D-6E8A-4147-A177-3AD203B41FA5}">
                      <a16:colId xmlns:a16="http://schemas.microsoft.com/office/drawing/2014/main" val="1397089667"/>
                    </a:ext>
                  </a:extLst>
                </a:gridCol>
                <a:gridCol w="4802846">
                  <a:extLst>
                    <a:ext uri="{9D8B030D-6E8A-4147-A177-3AD203B41FA5}">
                      <a16:colId xmlns:a16="http://schemas.microsoft.com/office/drawing/2014/main" val="2112775885"/>
                    </a:ext>
                  </a:extLst>
                </a:gridCol>
              </a:tblGrid>
              <a:tr h="446076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/>
                        <a:t>Ionic Bonding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/>
                        <a:t>Ionic Bonding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56623"/>
                  </a:ext>
                </a:extLst>
              </a:tr>
              <a:tr h="789211">
                <a:tc>
                  <a:txBody>
                    <a:bodyPr/>
                    <a:lstStyle/>
                    <a:p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Between metal +  non-metal</a:t>
                      </a:r>
                    </a:p>
                    <a:p>
                      <a:r>
                        <a:rPr lang="en-GB" sz="2000"/>
                        <a:t>e.g. NaCl, Na</a:t>
                      </a:r>
                      <a:r>
                        <a:rPr lang="en-GB" sz="2000" baseline="-25000"/>
                        <a:t>2</a:t>
                      </a:r>
                      <a:r>
                        <a:rPr lang="en-GB" sz="200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64477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Giant ionic lattice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91481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Bonding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Strong ionic bonds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59211"/>
                  </a:ext>
                </a:extLst>
              </a:tr>
              <a:tr h="2504887">
                <a:tc>
                  <a:txBody>
                    <a:bodyPr/>
                    <a:lstStyle/>
                    <a:p>
                      <a:r>
                        <a:rPr lang="en-GB" sz="20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High melting points and boiling points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/>
                        <a:t>Strong ionic bonds, lots of energy needed to break these</a:t>
                      </a:r>
                    </a:p>
                    <a:p>
                      <a:endParaRPr lang="en-GB" sz="2000"/>
                    </a:p>
                    <a:p>
                      <a:r>
                        <a:rPr lang="en-GB" sz="2000"/>
                        <a:t>Conduct electricity when molten or in solution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/>
                        <a:t>Ions are mobile and can carry the charge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5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76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2741-D26C-BE11-FE68-9B9D1B66EE6A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E6994-DE8B-28C2-3DAA-B2CE394EAC32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Bonding Fact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A6E32-DE95-587E-7EB0-E1CB3A847898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1AB48D-86AE-4B95-E9B9-A436F30D5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333477"/>
              </p:ext>
            </p:extLst>
          </p:nvPr>
        </p:nvGraphicFramePr>
        <p:xfrm>
          <a:off x="1451430" y="832955"/>
          <a:ext cx="6540045" cy="51920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7199">
                  <a:extLst>
                    <a:ext uri="{9D8B030D-6E8A-4147-A177-3AD203B41FA5}">
                      <a16:colId xmlns:a16="http://schemas.microsoft.com/office/drawing/2014/main" val="1397089667"/>
                    </a:ext>
                  </a:extLst>
                </a:gridCol>
                <a:gridCol w="4802846">
                  <a:extLst>
                    <a:ext uri="{9D8B030D-6E8A-4147-A177-3AD203B41FA5}">
                      <a16:colId xmlns:a16="http://schemas.microsoft.com/office/drawing/2014/main" val="2112775885"/>
                    </a:ext>
                  </a:extLst>
                </a:gridCol>
              </a:tblGrid>
              <a:tr h="446076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="1"/>
                        <a:t>Covalent bonding: </a:t>
                      </a:r>
                      <a:r>
                        <a:rPr lang="en-GB" sz="2000" b="1" u="sng"/>
                        <a:t>small molecules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/>
                        <a:t>Ionic Bonding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56623"/>
                  </a:ext>
                </a:extLst>
              </a:tr>
              <a:tr h="789211">
                <a:tc>
                  <a:txBody>
                    <a:bodyPr/>
                    <a:lstStyle/>
                    <a:p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Between non-metals</a:t>
                      </a:r>
                    </a:p>
                    <a:p>
                      <a:r>
                        <a:rPr lang="en-GB" sz="2000"/>
                        <a:t>e.g. H</a:t>
                      </a:r>
                      <a:r>
                        <a:rPr lang="en-GB" sz="2000" baseline="-25000"/>
                        <a:t>2</a:t>
                      </a:r>
                      <a:r>
                        <a:rPr lang="en-GB" sz="2000"/>
                        <a:t>O, NH</a:t>
                      </a:r>
                      <a:r>
                        <a:rPr lang="en-GB" sz="2000" baseline="-25000"/>
                        <a:t>3</a:t>
                      </a:r>
                      <a:r>
                        <a:rPr lang="en-GB" sz="2000"/>
                        <a:t>, CH</a:t>
                      </a:r>
                      <a:r>
                        <a:rPr lang="en-GB" sz="2000" baseline="-250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64477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Small</a:t>
                      </a:r>
                      <a:r>
                        <a:rPr lang="en-GB" sz="2000"/>
                        <a:t> molecule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91481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Bonding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Strong</a:t>
                      </a:r>
                      <a:r>
                        <a:rPr lang="en-GB" sz="2000"/>
                        <a:t> covalent bonds.</a:t>
                      </a:r>
                    </a:p>
                    <a:p>
                      <a:r>
                        <a:rPr lang="en-GB" sz="2000" b="1"/>
                        <a:t>Weak</a:t>
                      </a:r>
                      <a:r>
                        <a:rPr lang="en-GB" sz="2000"/>
                        <a:t> intermolecular forces between the molecules.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59211"/>
                  </a:ext>
                </a:extLst>
              </a:tr>
              <a:tr h="2504887">
                <a:tc>
                  <a:txBody>
                    <a:bodyPr/>
                    <a:lstStyle/>
                    <a:p>
                      <a:r>
                        <a:rPr lang="en-GB" sz="20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Low melting points and boiling points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/>
                        <a:t>Strong covalent bonds.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/>
                        <a:t>Weak intermolecular forces, not much energy is needed to break these.</a:t>
                      </a:r>
                    </a:p>
                    <a:p>
                      <a:endParaRPr lang="en-GB" sz="2000"/>
                    </a:p>
                    <a:p>
                      <a:r>
                        <a:rPr lang="en-GB" sz="2000"/>
                        <a:t>Do not conduct electricity ever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/>
                        <a:t>No charged particles.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5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4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2741-D26C-BE11-FE68-9B9D1B66EE6A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E6994-DE8B-28C2-3DAA-B2CE394EAC32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Bonding Fact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A6E32-DE95-587E-7EB0-E1CB3A847898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1AB48D-86AE-4B95-E9B9-A436F30D5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98092"/>
              </p:ext>
            </p:extLst>
          </p:nvPr>
        </p:nvGraphicFramePr>
        <p:xfrm>
          <a:off x="1451430" y="832955"/>
          <a:ext cx="6540045" cy="521704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7199">
                  <a:extLst>
                    <a:ext uri="{9D8B030D-6E8A-4147-A177-3AD203B41FA5}">
                      <a16:colId xmlns:a16="http://schemas.microsoft.com/office/drawing/2014/main" val="1397089667"/>
                    </a:ext>
                  </a:extLst>
                </a:gridCol>
                <a:gridCol w="4802846">
                  <a:extLst>
                    <a:ext uri="{9D8B030D-6E8A-4147-A177-3AD203B41FA5}">
                      <a16:colId xmlns:a16="http://schemas.microsoft.com/office/drawing/2014/main" val="2112775885"/>
                    </a:ext>
                  </a:extLst>
                </a:gridCol>
              </a:tblGrid>
              <a:tr h="446076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="1" i="0"/>
                        <a:t>Covalent bonding: </a:t>
                      </a:r>
                      <a:r>
                        <a:rPr lang="en-GB" sz="2000" b="1" i="0" u="sng"/>
                        <a:t>large molecules (polymers)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/>
                        <a:t>Ionic Bonding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56623"/>
                  </a:ext>
                </a:extLst>
              </a:tr>
              <a:tr h="789211">
                <a:tc>
                  <a:txBody>
                    <a:bodyPr/>
                    <a:lstStyle/>
                    <a:p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Between non-metals, large molecules</a:t>
                      </a:r>
                    </a:p>
                    <a:p>
                      <a:r>
                        <a:rPr lang="en-GB" sz="2000"/>
                        <a:t>e.g. polymers (hydrocarbons)</a:t>
                      </a:r>
                      <a:endParaRPr lang="en-GB" sz="2000" baseline="-25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64477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Large</a:t>
                      </a:r>
                      <a:r>
                        <a:rPr lang="en-GB" sz="2000"/>
                        <a:t> molecule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91481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Bonding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Strong</a:t>
                      </a:r>
                      <a:r>
                        <a:rPr lang="en-GB" sz="2000"/>
                        <a:t> covalent bonds.</a:t>
                      </a:r>
                    </a:p>
                    <a:p>
                      <a:r>
                        <a:rPr lang="en-GB" sz="2000" b="1"/>
                        <a:t>Relatively strong </a:t>
                      </a:r>
                      <a:r>
                        <a:rPr lang="en-GB" sz="2000"/>
                        <a:t>intermolecular forces between the molecules.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59211"/>
                  </a:ext>
                </a:extLst>
              </a:tr>
              <a:tr h="2504887">
                <a:tc>
                  <a:txBody>
                    <a:bodyPr/>
                    <a:lstStyle/>
                    <a:p>
                      <a:r>
                        <a:rPr lang="en-GB" sz="20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Solid at room temperature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1"/>
                        <a:t>Strong</a:t>
                      </a:r>
                      <a:r>
                        <a:rPr lang="en-GB" sz="2000"/>
                        <a:t> covalent bonds.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1"/>
                        <a:t>Relatively strong </a:t>
                      </a:r>
                      <a:r>
                        <a:rPr lang="en-GB" sz="2000"/>
                        <a:t>intermolecular forces, not much energy is needed to break these.</a:t>
                      </a:r>
                    </a:p>
                    <a:p>
                      <a:endParaRPr lang="en-GB" sz="2000"/>
                    </a:p>
                    <a:p>
                      <a:r>
                        <a:rPr lang="en-GB" sz="2000"/>
                        <a:t>Do not conduct electricity ever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/>
                        <a:t>No charged particles.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5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56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2741-D26C-BE11-FE68-9B9D1B66EE6A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E6994-DE8B-28C2-3DAA-B2CE394EAC32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Bonding Fact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A6E32-DE95-587E-7EB0-E1CB3A847898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1AB48D-86AE-4B95-E9B9-A436F30D5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09438"/>
              </p:ext>
            </p:extLst>
          </p:nvPr>
        </p:nvGraphicFramePr>
        <p:xfrm>
          <a:off x="1451430" y="832955"/>
          <a:ext cx="6540045" cy="4887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7199">
                  <a:extLst>
                    <a:ext uri="{9D8B030D-6E8A-4147-A177-3AD203B41FA5}">
                      <a16:colId xmlns:a16="http://schemas.microsoft.com/office/drawing/2014/main" val="1397089667"/>
                    </a:ext>
                  </a:extLst>
                </a:gridCol>
                <a:gridCol w="4802846">
                  <a:extLst>
                    <a:ext uri="{9D8B030D-6E8A-4147-A177-3AD203B41FA5}">
                      <a16:colId xmlns:a16="http://schemas.microsoft.com/office/drawing/2014/main" val="2112775885"/>
                    </a:ext>
                  </a:extLst>
                </a:gridCol>
              </a:tblGrid>
              <a:tr h="446076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="1" i="0" dirty="0"/>
                        <a:t>Covalent bonding: </a:t>
                      </a:r>
                      <a:r>
                        <a:rPr lang="en-GB" sz="2000" b="1" i="0" u="sng" dirty="0"/>
                        <a:t>Giant covalent compounds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/>
                        <a:t>Ionic Bonding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56623"/>
                  </a:ext>
                </a:extLst>
              </a:tr>
              <a:tr h="789211">
                <a:tc>
                  <a:txBody>
                    <a:bodyPr/>
                    <a:lstStyle/>
                    <a:p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Between non-metals</a:t>
                      </a:r>
                    </a:p>
                    <a:p>
                      <a:r>
                        <a:rPr lang="en-GB" sz="2000" baseline="0" dirty="0"/>
                        <a:t>e.g. silicon dioxide, diamond, graphite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64477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Giant covalent structure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91481"/>
                  </a:ext>
                </a:extLst>
              </a:tr>
              <a:tr h="446076">
                <a:tc>
                  <a:txBody>
                    <a:bodyPr/>
                    <a:lstStyle/>
                    <a:p>
                      <a:r>
                        <a:rPr lang="en-GB" sz="2000"/>
                        <a:t>Bonding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dirty="0"/>
                        <a:t>Only</a:t>
                      </a:r>
                      <a:r>
                        <a:rPr lang="en-GB" sz="2000" b="1" dirty="0"/>
                        <a:t> strong</a:t>
                      </a:r>
                      <a:r>
                        <a:rPr lang="en-GB" sz="2000" dirty="0"/>
                        <a:t> covalent bonds between atoms.</a:t>
                      </a:r>
                    </a:p>
                    <a:p>
                      <a:r>
                        <a:rPr lang="en-GB" sz="2000" b="1" dirty="0"/>
                        <a:t>No weak </a:t>
                      </a:r>
                      <a:r>
                        <a:rPr lang="en-GB" sz="2000" dirty="0"/>
                        <a:t>intermolecular forces.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59211"/>
                  </a:ext>
                </a:extLst>
              </a:tr>
              <a:tr h="2504887">
                <a:tc>
                  <a:txBody>
                    <a:bodyPr/>
                    <a:lstStyle/>
                    <a:p>
                      <a:r>
                        <a:rPr lang="en-GB" sz="20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Very high melting and boiling points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1" dirty="0"/>
                        <a:t>Lots of strong</a:t>
                      </a:r>
                      <a:r>
                        <a:rPr lang="en-GB" sz="2000" dirty="0"/>
                        <a:t> covalent bonds that require a lot of energy to break them.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Do not conduct electricity (one exception: graphite)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No charged particles.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5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35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2741-D26C-BE11-FE68-9B9D1B66EE6A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E6994-DE8B-28C2-3DAA-B2CE394EAC32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Bonding Fact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A6E32-DE95-587E-7EB0-E1CB3A847898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1AB48D-86AE-4B95-E9B9-A436F30D5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08726"/>
              </p:ext>
            </p:extLst>
          </p:nvPr>
        </p:nvGraphicFramePr>
        <p:xfrm>
          <a:off x="409014" y="604354"/>
          <a:ext cx="8414946" cy="58945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20291">
                  <a:extLst>
                    <a:ext uri="{9D8B030D-6E8A-4147-A177-3AD203B41FA5}">
                      <a16:colId xmlns:a16="http://schemas.microsoft.com/office/drawing/2014/main" val="1397089667"/>
                    </a:ext>
                  </a:extLst>
                </a:gridCol>
                <a:gridCol w="2230047">
                  <a:extLst>
                    <a:ext uri="{9D8B030D-6E8A-4147-A177-3AD203B41FA5}">
                      <a16:colId xmlns:a16="http://schemas.microsoft.com/office/drawing/2014/main" val="2112775885"/>
                    </a:ext>
                  </a:extLst>
                </a:gridCol>
                <a:gridCol w="2361428">
                  <a:extLst>
                    <a:ext uri="{9D8B030D-6E8A-4147-A177-3AD203B41FA5}">
                      <a16:colId xmlns:a16="http://schemas.microsoft.com/office/drawing/2014/main" val="2464415820"/>
                    </a:ext>
                  </a:extLst>
                </a:gridCol>
                <a:gridCol w="2503180">
                  <a:extLst>
                    <a:ext uri="{9D8B030D-6E8A-4147-A177-3AD203B41FA5}">
                      <a16:colId xmlns:a16="http://schemas.microsoft.com/office/drawing/2014/main" val="3162218052"/>
                    </a:ext>
                  </a:extLst>
                </a:gridCol>
              </a:tblGrid>
              <a:tr h="576668">
                <a:tc gridSpan="4">
                  <a:txBody>
                    <a:bodyPr/>
                    <a:lstStyle/>
                    <a:p>
                      <a:pPr algn="ctr"/>
                      <a:r>
                        <a:rPr lang="en-GB" sz="1600" b="1" i="0" dirty="0"/>
                        <a:t>Covalent bonding: </a:t>
                      </a:r>
                      <a:r>
                        <a:rPr lang="en-GB" sz="1600" b="1" i="0" u="sng" dirty="0"/>
                        <a:t>Giant covalent compounds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/>
                        <a:t>Ionic Bonding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000" b="1" i="0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000" b="1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56623"/>
                  </a:ext>
                </a:extLst>
              </a:tr>
              <a:tr h="656922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Graphite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Graphene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64477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r>
                        <a:rPr lang="en-GB" sz="1600" dirty="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Giant covalent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Giant covalent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Giant covalent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91481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r>
                        <a:rPr lang="en-GB" sz="1600" dirty="0"/>
                        <a:t>Bonding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Covalent</a:t>
                      </a:r>
                    </a:p>
                    <a:p>
                      <a:pPr algn="ctr"/>
                      <a:r>
                        <a:rPr lang="en-GB" sz="1600" dirty="0"/>
                        <a:t>Each C bonds to </a:t>
                      </a:r>
                      <a:r>
                        <a:rPr lang="en-GB" sz="1600" dirty="0">
                          <a:highlight>
                            <a:srgbClr val="FFFF00"/>
                          </a:highlight>
                        </a:rPr>
                        <a:t>4</a:t>
                      </a:r>
                      <a:r>
                        <a:rPr lang="en-GB" sz="1600" dirty="0"/>
                        <a:t> other C atoms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Covalent</a:t>
                      </a:r>
                    </a:p>
                    <a:p>
                      <a:pPr algn="ctr"/>
                      <a:r>
                        <a:rPr lang="en-GB" sz="1600" dirty="0"/>
                        <a:t>Each C bonds to </a:t>
                      </a:r>
                      <a:r>
                        <a:rPr lang="en-GB" sz="16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en-GB" sz="1600" dirty="0"/>
                        <a:t> other C atoms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Covalent</a:t>
                      </a:r>
                    </a:p>
                    <a:p>
                      <a:pPr algn="ctr"/>
                      <a:r>
                        <a:rPr lang="en-GB" sz="1600" dirty="0"/>
                        <a:t>Each C bonds to </a:t>
                      </a:r>
                      <a:r>
                        <a:rPr lang="en-GB" sz="16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en-GB" sz="1600" dirty="0"/>
                        <a:t> other C atoms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59211"/>
                  </a:ext>
                </a:extLst>
              </a:tr>
              <a:tr h="3238209">
                <a:tc>
                  <a:txBody>
                    <a:bodyPr/>
                    <a:lstStyle/>
                    <a:p>
                      <a:r>
                        <a:rPr lang="en-GB" sz="16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/>
                        <a:t>Very hard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/>
                        <a:t>Only strong covalent bonds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/>
                        <a:t>Very high melting point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600" dirty="0"/>
                        <a:t>Only strong covalent bonds and lots of energy needed to make these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/>
                        <a:t>Does not conduct electricity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/>
                        <a:t>No free electrons, no mobile ions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600" b="0" i="0" dirty="0">
                          <a:solidFill>
                            <a:srgbClr val="231F20"/>
                          </a:solidFill>
                          <a:effectLst/>
                        </a:rPr>
                        <a:t>Conducts electricity.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dirty="0">
                          <a:solidFill>
                            <a:srgbClr val="231F20"/>
                          </a:solidFill>
                          <a:effectLst/>
                        </a:rPr>
                        <a:t>one delocalised electron from each C atom, it is free to move between layers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solidFill>
                            <a:srgbClr val="231F20"/>
                          </a:solidFill>
                        </a:rPr>
                        <a:t>Layers can slide so it is a good lubricant.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dirty="0">
                          <a:solidFill>
                            <a:srgbClr val="231F20"/>
                          </a:solidFill>
                          <a:effectLst/>
                        </a:rPr>
                        <a:t>Weak intermolecular forces between the layers, these are easily broken,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600" b="0" i="0" dirty="0">
                          <a:solidFill>
                            <a:srgbClr val="231F20"/>
                          </a:solidFill>
                          <a:effectLst/>
                        </a:rPr>
                        <a:t>High melting point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600" dirty="0"/>
                        <a:t>Only strong covalent bonds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solidFill>
                            <a:srgbClr val="231F20"/>
                          </a:solidFill>
                        </a:rPr>
                        <a:t>C</a:t>
                      </a:r>
                      <a:r>
                        <a:rPr lang="en-GB" sz="1600" b="0" i="0" dirty="0">
                          <a:solidFill>
                            <a:srgbClr val="231F20"/>
                          </a:solidFill>
                          <a:effectLst/>
                        </a:rPr>
                        <a:t>onducts electricity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rgbClr val="231F20"/>
                          </a:solidFill>
                          <a:effectLst/>
                        </a:rPr>
                        <a:t>one delocalised electron from each C atom, it is free to move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solidFill>
                            <a:srgbClr val="231F20"/>
                          </a:solidFill>
                        </a:rPr>
                        <a:t>Very strong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600" dirty="0"/>
                        <a:t>Only strong covalent bonds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GB" sz="1600" b="0" i="0" dirty="0">
                        <a:solidFill>
                          <a:srgbClr val="231F20"/>
                        </a:solidFill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5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60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02F514-18C2-30CF-D01F-DAD6421D2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34386"/>
              </p:ext>
            </p:extLst>
          </p:nvPr>
        </p:nvGraphicFramePr>
        <p:xfrm>
          <a:off x="602107" y="2006670"/>
          <a:ext cx="8306554" cy="48513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76250">
                  <a:extLst>
                    <a:ext uri="{9D8B030D-6E8A-4147-A177-3AD203B41FA5}">
                      <a16:colId xmlns:a16="http://schemas.microsoft.com/office/drawing/2014/main" val="525581158"/>
                    </a:ext>
                  </a:extLst>
                </a:gridCol>
                <a:gridCol w="2103909">
                  <a:extLst>
                    <a:ext uri="{9D8B030D-6E8A-4147-A177-3AD203B41FA5}">
                      <a16:colId xmlns:a16="http://schemas.microsoft.com/office/drawing/2014/main" val="1053586368"/>
                    </a:ext>
                  </a:extLst>
                </a:gridCol>
                <a:gridCol w="2049368">
                  <a:extLst>
                    <a:ext uri="{9D8B030D-6E8A-4147-A177-3AD203B41FA5}">
                      <a16:colId xmlns:a16="http://schemas.microsoft.com/office/drawing/2014/main" val="1721377847"/>
                    </a:ext>
                  </a:extLst>
                </a:gridCol>
                <a:gridCol w="2077027">
                  <a:extLst>
                    <a:ext uri="{9D8B030D-6E8A-4147-A177-3AD203B41FA5}">
                      <a16:colId xmlns:a16="http://schemas.microsoft.com/office/drawing/2014/main" val="3522572052"/>
                    </a:ext>
                  </a:extLst>
                </a:gridCol>
              </a:tblGrid>
              <a:tr h="4163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effectLst/>
                        </a:rPr>
                        <a:t>Graphene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</a:rPr>
                        <a:t>Fullerene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</a:rPr>
                        <a:t>Nanotube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800571"/>
                  </a:ext>
                </a:extLst>
              </a:tr>
              <a:tr h="416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effectLst/>
                        </a:rPr>
                        <a:t>Structure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</a:rPr>
                        <a:t> 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Giant covalent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One layer of graphite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Giant covalent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A hollow cage of carbon atoms 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Giant covalent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A hollow tube of carbon atoms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2995461"/>
                  </a:ext>
                </a:extLst>
              </a:tr>
              <a:tr h="5855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Bonding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Covalent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Covalent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Covalent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1261590"/>
                  </a:ext>
                </a:extLst>
              </a:tr>
              <a:tr h="2235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>
                          <a:effectLst/>
                        </a:rPr>
                        <a:t>Uses</a:t>
                      </a:r>
                      <a:endParaRPr lang="en-GB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>
                          <a:effectLst/>
                        </a:rPr>
                        <a:t>Electronics</a:t>
                      </a:r>
                      <a:r>
                        <a:rPr lang="en-GB" sz="1600">
                          <a:effectLst/>
                        </a:rPr>
                        <a:t>: very effective conductor of electricity due to free electrons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</a:rPr>
                        <a:t>Very strong so useful in </a:t>
                      </a:r>
                      <a:r>
                        <a:rPr lang="en-GB" sz="1600" b="1">
                          <a:effectLst/>
                        </a:rPr>
                        <a:t>advanced materials </a:t>
                      </a:r>
                      <a:r>
                        <a:rPr lang="en-GB" sz="1600">
                          <a:effectLst/>
                        </a:rPr>
                        <a:t>(composites) 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>
                          <a:effectLst/>
                        </a:rPr>
                        <a:t>Drug delivery </a:t>
                      </a:r>
                      <a:r>
                        <a:rPr lang="en-GB" sz="1600">
                          <a:effectLst/>
                        </a:rPr>
                        <a:t>for medical applications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>
                          <a:effectLst/>
                        </a:rPr>
                        <a:t>Lubricants</a:t>
                      </a:r>
                      <a:r>
                        <a:rPr lang="en-GB" sz="1600">
                          <a:effectLst/>
                        </a:rPr>
                        <a:t> (weak forces between cages so easy for cages to slip over each other)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</a:rPr>
                        <a:t> </a:t>
                      </a:r>
                      <a:r>
                        <a:rPr lang="en-GB" sz="1600" b="1">
                          <a:effectLst/>
                        </a:rPr>
                        <a:t>Catalysts</a:t>
                      </a:r>
                      <a:endParaRPr lang="en-GB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</a:rPr>
                        <a:t>High tensile strength so can be used in </a:t>
                      </a:r>
                      <a:r>
                        <a:rPr lang="en-GB" sz="1600" b="1" dirty="0">
                          <a:effectLst/>
                        </a:rPr>
                        <a:t>composite materials </a:t>
                      </a:r>
                      <a:r>
                        <a:rPr lang="en-GB" sz="1600" dirty="0">
                          <a:effectLst/>
                        </a:rPr>
                        <a:t>e.g., tennis rackets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</a:rPr>
                        <a:t>Electronics</a:t>
                      </a:r>
                      <a:r>
                        <a:rPr lang="en-GB" sz="1600" dirty="0">
                          <a:effectLst/>
                        </a:rPr>
                        <a:t> due to high electrical conductivity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8696684"/>
                  </a:ext>
                </a:extLst>
              </a:tr>
            </a:tbl>
          </a:graphicData>
        </a:graphic>
      </p:graphicFrame>
      <p:pic>
        <p:nvPicPr>
          <p:cNvPr id="4" name="Picture 3" descr="Image result for graphene">
            <a:extLst>
              <a:ext uri="{FF2B5EF4-FFF2-40B4-BE49-F238E27FC236}">
                <a16:creationId xmlns:a16="http://schemas.microsoft.com/office/drawing/2014/main" id="{0E6A8CF9-F3A3-5233-82A7-52E9F2E80B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59" r="47664"/>
          <a:stretch/>
        </p:blipFill>
        <p:spPr bwMode="auto">
          <a:xfrm flipH="1">
            <a:off x="6800774" y="660362"/>
            <a:ext cx="1856320" cy="12963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Image result for graphene">
            <a:extLst>
              <a:ext uri="{FF2B5EF4-FFF2-40B4-BE49-F238E27FC236}">
                <a16:creationId xmlns:a16="http://schemas.microsoft.com/office/drawing/2014/main" id="{1530CBB6-DD81-9136-B8BB-8732A45F65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33" b="50926"/>
          <a:stretch/>
        </p:blipFill>
        <p:spPr bwMode="auto">
          <a:xfrm>
            <a:off x="2629189" y="660362"/>
            <a:ext cx="1856320" cy="12963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Image result for graphene">
            <a:extLst>
              <a:ext uri="{FF2B5EF4-FFF2-40B4-BE49-F238E27FC236}">
                <a16:creationId xmlns:a16="http://schemas.microsoft.com/office/drawing/2014/main" id="{DEC9E178-CEF2-B82C-32C3-AF82B2CC94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51" t="47959" r="3912"/>
          <a:stretch/>
        </p:blipFill>
        <p:spPr bwMode="auto">
          <a:xfrm flipH="1">
            <a:off x="4921527" y="660362"/>
            <a:ext cx="1530035" cy="12963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1A80F0-B56E-06AD-6204-A6B8E879CF0D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Teacher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8BD71-D155-7E25-960F-E18AC9C726A5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Graphene, Fullerenes and Nanotubes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EF0D23-339B-047F-74D3-52C9C46B5400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380018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2741-D26C-BE11-FE68-9B9D1B66EE6A}"/>
              </a:ext>
            </a:extLst>
          </p:cNvPr>
          <p:cNvSpPr/>
          <p:nvPr/>
        </p:nvSpPr>
        <p:spPr>
          <a:xfrm>
            <a:off x="0" y="0"/>
            <a:ext cx="1451429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E6994-DE8B-28C2-3DAA-B2CE394EAC32}"/>
              </a:ext>
            </a:extLst>
          </p:cNvPr>
          <p:cNvSpPr/>
          <p:nvPr/>
        </p:nvSpPr>
        <p:spPr>
          <a:xfrm>
            <a:off x="1451429" y="0"/>
            <a:ext cx="6540046" cy="390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/>
              <a:t>Bonding Fact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A6E32-DE95-587E-7EB0-E1CB3A847898}"/>
              </a:ext>
            </a:extLst>
          </p:cNvPr>
          <p:cNvSpPr/>
          <p:nvPr/>
        </p:nvSpPr>
        <p:spPr>
          <a:xfrm>
            <a:off x="7991475" y="0"/>
            <a:ext cx="1156154" cy="39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/>
              <a:t>C2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1AB48D-86AE-4B95-E9B9-A436F30D5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83507"/>
              </p:ext>
            </p:extLst>
          </p:nvPr>
        </p:nvGraphicFramePr>
        <p:xfrm>
          <a:off x="414338" y="645043"/>
          <a:ext cx="8315324" cy="59218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5899">
                  <a:extLst>
                    <a:ext uri="{9D8B030D-6E8A-4147-A177-3AD203B41FA5}">
                      <a16:colId xmlns:a16="http://schemas.microsoft.com/office/drawing/2014/main" val="1397089667"/>
                    </a:ext>
                  </a:extLst>
                </a:gridCol>
                <a:gridCol w="6829425">
                  <a:extLst>
                    <a:ext uri="{9D8B030D-6E8A-4147-A177-3AD203B41FA5}">
                      <a16:colId xmlns:a16="http://schemas.microsoft.com/office/drawing/2014/main" val="2112775885"/>
                    </a:ext>
                  </a:extLst>
                </a:gridCol>
              </a:tblGrid>
              <a:tr h="410428">
                <a:tc gridSpan="2">
                  <a:txBody>
                    <a:bodyPr/>
                    <a:lstStyle/>
                    <a:p>
                      <a:pPr algn="ctr"/>
                      <a:r>
                        <a:rPr lang="en-GB" sz="1800" b="1" i="0" dirty="0"/>
                        <a:t>Covalent bonding: </a:t>
                      </a:r>
                      <a:r>
                        <a:rPr lang="en-GB" sz="1800" b="1" i="0" u="sng" dirty="0"/>
                        <a:t>Giant Metallic Lattice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/>
                        <a:t>Ionic Bonding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56623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In metals</a:t>
                      </a:r>
                    </a:p>
                    <a:p>
                      <a:r>
                        <a:rPr lang="en-GB" sz="1800" baseline="0" dirty="0"/>
                        <a:t>e.g. copper, iron, sodium, magnesium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64477"/>
                  </a:ext>
                </a:extLst>
              </a:tr>
              <a:tr h="410428">
                <a:tc>
                  <a:txBody>
                    <a:bodyPr/>
                    <a:lstStyle/>
                    <a:p>
                      <a:r>
                        <a:rPr lang="en-GB" sz="180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Giant metallic structure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91481"/>
                  </a:ext>
                </a:extLst>
              </a:tr>
              <a:tr h="645017">
                <a:tc>
                  <a:txBody>
                    <a:bodyPr/>
                    <a:lstStyle/>
                    <a:p>
                      <a:r>
                        <a:rPr lang="en-GB" sz="1800"/>
                        <a:t>Bonding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Strong</a:t>
                      </a:r>
                      <a:r>
                        <a:rPr lang="en-GB" sz="1800" dirty="0"/>
                        <a:t> metallic bonds. </a:t>
                      </a:r>
                    </a:p>
                    <a:p>
                      <a:r>
                        <a:rPr lang="en-GB" sz="1800" dirty="0"/>
                        <a:t>Positive metal ions surrounded by delocalised electrons.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59211"/>
                  </a:ext>
                </a:extLst>
              </a:tr>
              <a:tr h="3729879">
                <a:tc>
                  <a:txBody>
                    <a:bodyPr/>
                    <a:lstStyle/>
                    <a:p>
                      <a:r>
                        <a:rPr lang="en-GB" sz="18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High melting and boiling points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dirty="0"/>
                        <a:t>Lots of strong</a:t>
                      </a:r>
                      <a:r>
                        <a:rPr lang="en-GB" sz="1800" dirty="0"/>
                        <a:t> metallic bonds that require a lot of energy to break them.</a:t>
                      </a:r>
                    </a:p>
                    <a:p>
                      <a:endParaRPr lang="en-GB" sz="1800" dirty="0"/>
                    </a:p>
                    <a:p>
                      <a:r>
                        <a:rPr lang="en-GB" sz="1800" dirty="0"/>
                        <a:t>Conduct electricity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dirty="0"/>
                        <a:t>Delocalised electrons </a:t>
                      </a:r>
                      <a:r>
                        <a:rPr lang="en-GB" sz="1800" dirty="0"/>
                        <a:t>are free to carry the charge through the whole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8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800" dirty="0"/>
                        <a:t>Conduct heat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b="1" dirty="0"/>
                        <a:t>Delocalised electrons </a:t>
                      </a:r>
                      <a:r>
                        <a:rPr lang="en-GB" sz="1800" dirty="0"/>
                        <a:t>transfer energy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8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800" dirty="0"/>
                        <a:t>Malleable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dirty="0"/>
                        <a:t>Layers of ions </a:t>
                      </a:r>
                      <a:r>
                        <a:rPr lang="en-GB" sz="1800" dirty="0"/>
                        <a:t>can slide over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5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6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3E00F8EB4584409FB4964571EAC190" ma:contentTypeVersion="18" ma:contentTypeDescription="Create a new document." ma:contentTypeScope="" ma:versionID="1ddfdf48c4634b5f1d32d0e80a33913e">
  <xsd:schema xmlns:xsd="http://www.w3.org/2001/XMLSchema" xmlns:xs="http://www.w3.org/2001/XMLSchema" xmlns:p="http://schemas.microsoft.com/office/2006/metadata/properties" xmlns:ns3="75db0608-39f0-4fdf-b6be-9928917bf56f" xmlns:ns4="d23163ea-30b3-4b2d-aa94-5019e8e45ef7" targetNamespace="http://schemas.microsoft.com/office/2006/metadata/properties" ma:root="true" ma:fieldsID="d54b50289913bc8e9ea33834f7257524" ns3:_="" ns4:_="">
    <xsd:import namespace="75db0608-39f0-4fdf-b6be-9928917bf56f"/>
    <xsd:import namespace="d23163ea-30b3-4b2d-aa94-5019e8e45e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db0608-39f0-4fdf-b6be-9928917bf5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163ea-30b3-4b2d-aa94-5019e8e45ef7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db0608-39f0-4fdf-b6be-9928917bf56f" xsi:nil="true"/>
  </documentManagement>
</p:properties>
</file>

<file path=customXml/itemProps1.xml><?xml version="1.0" encoding="utf-8"?>
<ds:datastoreItem xmlns:ds="http://schemas.openxmlformats.org/officeDocument/2006/customXml" ds:itemID="{7EA879FF-E69A-4B09-8947-B1E9E2B0BE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49971A-EE82-40C0-AEAE-74A15BC40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db0608-39f0-4fdf-b6be-9928917bf56f"/>
    <ds:schemaRef ds:uri="d23163ea-30b3-4b2d-aa94-5019e8e45e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69EFC5-C6A0-4F96-B2E8-28925BA031F9}">
  <ds:schemaRefs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75db0608-39f0-4fdf-b6be-9928917bf56f"/>
    <ds:schemaRef ds:uri="http://schemas.openxmlformats.org/package/2006/metadata/core-properties"/>
    <ds:schemaRef ds:uri="d23163ea-30b3-4b2d-aa94-5019e8e45ef7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161</TotalTime>
  <Words>760</Words>
  <Application>Microsoft Office PowerPoint</Application>
  <PresentationFormat>On-screen Show (4:3)</PresentationFormat>
  <Paragraphs>212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Salima Zerrougui</dc:creator>
  <cp:lastModifiedBy>Salima Zerrougui</cp:lastModifiedBy>
  <cp:revision>3</cp:revision>
  <cp:lastPrinted>2023-12-08T09:46:43Z</cp:lastPrinted>
  <dcterms:created xsi:type="dcterms:W3CDTF">2023-06-29T07:08:43Z</dcterms:created>
  <dcterms:modified xsi:type="dcterms:W3CDTF">2024-04-16T14:20:32Z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0x010100943E00F8EB4584409FB4964571EAC190</vt:lpwstr>
  </property>
  <property fmtid="{D5CDD505-2E9C-101B-9397-08002B2CF9AE}" pid="3" name="MediaServiceImageTags">
    <vt:lpwstr/>
  </property>
</Properties>
</file>